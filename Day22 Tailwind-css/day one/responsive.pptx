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80" r:id="rId3"/>
    <p:sldId id="281" r:id="rId4"/>
    <p:sldId id="282" r:id="rId5"/>
    <p:sldId id="283" r:id="rId6"/>
    <p:sldId id="285" r:id="rId7"/>
    <p:sldId id="284" r:id="rId8"/>
    <p:sldId id="279"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96" r:id="rId22"/>
    <p:sldId id="269" r:id="rId23"/>
    <p:sldId id="270" r:id="rId24"/>
    <p:sldId id="271" r:id="rId25"/>
    <p:sldId id="287" r:id="rId26"/>
    <p:sldId id="288" r:id="rId27"/>
    <p:sldId id="289" r:id="rId28"/>
    <p:sldId id="297" r:id="rId29"/>
    <p:sldId id="291" r:id="rId30"/>
    <p:sldId id="292" r:id="rId31"/>
    <p:sldId id="293" r:id="rId32"/>
    <p:sldId id="29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484" autoAdjust="0"/>
  </p:normalViewPr>
  <p:slideViewPr>
    <p:cSldViewPr snapToGrid="0">
      <p:cViewPr>
        <p:scale>
          <a:sx n="75" d="100"/>
          <a:sy n="75" d="100"/>
        </p:scale>
        <p:origin x="946"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4DF38-B657-412B-AF99-05E6128ABFA0}"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BF27BA-BE48-4F7F-B3F3-34C2A37D9121}" type="slidenum">
              <a:rPr lang="en-US" smtClean="0"/>
              <a:t>‹#›</a:t>
            </a:fld>
            <a:endParaRPr lang="en-US"/>
          </a:p>
        </p:txBody>
      </p:sp>
    </p:spTree>
    <p:extLst>
      <p:ext uri="{BB962C8B-B14F-4D97-AF65-F5344CB8AC3E}">
        <p14:creationId xmlns:p14="http://schemas.microsoft.com/office/powerpoint/2010/main" val="403483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404040"/>
                </a:solidFill>
                <a:effectLst/>
                <a:latin typeface="Inter"/>
              </a:rPr>
              <a:t>width=device-width</a:t>
            </a:r>
            <a:r>
              <a:rPr lang="en-US" b="0" i="0" dirty="0">
                <a:solidFill>
                  <a:srgbClr val="404040"/>
                </a:solidFill>
                <a:effectLst/>
                <a:latin typeface="Inter"/>
              </a:rPr>
              <a:t>: The width of the viewport is set to the width of the device.</a:t>
            </a:r>
          </a:p>
          <a:p>
            <a:pPr algn="l">
              <a:spcBef>
                <a:spcPts val="300"/>
              </a:spcBef>
              <a:buFont typeface="Arial" panose="020B0604020202020204" pitchFamily="34" charset="0"/>
              <a:buChar char="•"/>
            </a:pPr>
            <a:r>
              <a:rPr lang="en-US" b="1" i="0" dirty="0">
                <a:solidFill>
                  <a:srgbClr val="404040"/>
                </a:solidFill>
                <a:effectLst/>
                <a:latin typeface="Inter"/>
              </a:rPr>
              <a:t>initial-scale=1.0</a:t>
            </a:r>
            <a:r>
              <a:rPr lang="en-US" b="0" i="0" dirty="0">
                <a:solidFill>
                  <a:srgbClr val="404040"/>
                </a:solidFill>
                <a:effectLst/>
                <a:latin typeface="Inter"/>
              </a:rPr>
              <a:t>: The page is initially displayed at 100% of its size.</a:t>
            </a:r>
          </a:p>
          <a:p>
            <a:pPr algn="l">
              <a:spcBef>
                <a:spcPts val="300"/>
              </a:spcBef>
              <a:buFont typeface="Arial" panose="020B0604020202020204" pitchFamily="34" charset="0"/>
              <a:buChar char="•"/>
            </a:pPr>
            <a:r>
              <a:rPr lang="en-US" b="1" i="0" dirty="0">
                <a:solidFill>
                  <a:srgbClr val="404040"/>
                </a:solidFill>
                <a:effectLst/>
                <a:latin typeface="Inter"/>
              </a:rPr>
              <a:t>maximum-scale=1.0</a:t>
            </a:r>
            <a:r>
              <a:rPr lang="en-US" b="0" i="0" dirty="0">
                <a:solidFill>
                  <a:srgbClr val="404040"/>
                </a:solidFill>
                <a:effectLst/>
                <a:latin typeface="Inter"/>
              </a:rPr>
              <a:t>: The user cannot zoom in beyond 100%.</a:t>
            </a:r>
          </a:p>
          <a:p>
            <a:pPr algn="l">
              <a:spcBef>
                <a:spcPts val="300"/>
              </a:spcBef>
              <a:buFont typeface="Arial" panose="020B0604020202020204" pitchFamily="34" charset="0"/>
              <a:buChar char="•"/>
            </a:pPr>
            <a:r>
              <a:rPr lang="en-US" b="1" i="0" dirty="0">
                <a:solidFill>
                  <a:srgbClr val="404040"/>
                </a:solidFill>
                <a:effectLst/>
                <a:latin typeface="Inter"/>
              </a:rPr>
              <a:t>user-scalable=no</a:t>
            </a:r>
            <a:r>
              <a:rPr lang="en-US" b="0" i="0" dirty="0">
                <a:solidFill>
                  <a:srgbClr val="404040"/>
                </a:solidFill>
                <a:effectLst/>
                <a:latin typeface="Inter"/>
              </a:rPr>
              <a:t>: The user is not allowed to zoom in or out.</a:t>
            </a:r>
          </a:p>
        </p:txBody>
      </p:sp>
      <p:sp>
        <p:nvSpPr>
          <p:cNvPr id="4" name="Slide Number Placeholder 3"/>
          <p:cNvSpPr>
            <a:spLocks noGrp="1"/>
          </p:cNvSpPr>
          <p:nvPr>
            <p:ph type="sldNum" sz="quarter" idx="5"/>
          </p:nvPr>
        </p:nvSpPr>
        <p:spPr/>
        <p:txBody>
          <a:bodyPr/>
          <a:lstStyle/>
          <a:p>
            <a:fld id="{8FBF27BA-BE48-4F7F-B3F3-34C2A37D9121}" type="slidenum">
              <a:rPr lang="en-US" smtClean="0"/>
              <a:t>4</a:t>
            </a:fld>
            <a:endParaRPr lang="en-US"/>
          </a:p>
        </p:txBody>
      </p:sp>
    </p:spTree>
    <p:extLst>
      <p:ext uri="{BB962C8B-B14F-4D97-AF65-F5344CB8AC3E}">
        <p14:creationId xmlns:p14="http://schemas.microsoft.com/office/powerpoint/2010/main" val="2157871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2250"/>
              </a:lnSpc>
            </a:pPr>
            <a:r>
              <a:rPr lang="en-US" b="0" dirty="0">
                <a:solidFill>
                  <a:srgbClr val="D7BA7D"/>
                </a:solidFill>
                <a:effectLst/>
                <a:latin typeface="Consolas" panose="020B0609020204030204" pitchFamily="49" charset="0"/>
              </a:rPr>
              <a:t>.container</a:t>
            </a:r>
            <a:r>
              <a:rPr lang="en-US" b="0" dirty="0">
                <a:solidFill>
                  <a:srgbClr val="D4D4D4"/>
                </a:solidFill>
                <a:effectLst/>
                <a:latin typeface="Consolas" panose="020B0609020204030204" pitchFamily="49" charset="0"/>
              </a:rPr>
              <a:t> </a:t>
            </a:r>
            <a:r>
              <a:rPr lang="en-US" b="0" dirty="0" err="1">
                <a:solidFill>
                  <a:srgbClr val="D7BA7D"/>
                </a:solidFill>
                <a:effectLst/>
                <a:latin typeface="Consolas" panose="020B0609020204030204" pitchFamily="49" charset="0"/>
              </a:rPr>
              <a:t>div:nth-child</a:t>
            </a:r>
            <a:r>
              <a:rPr lang="en-US" b="0" dirty="0">
                <a:solidFill>
                  <a:srgbClr val="D4D4D4"/>
                </a:solidFill>
                <a:effectLst/>
                <a:latin typeface="Consolas" panose="020B0609020204030204" pitchFamily="49" charset="0"/>
              </a:rPr>
              <a:t>(odd) {</a:t>
            </a:r>
          </a:p>
          <a:p>
            <a:pPr>
              <a:lnSpc>
                <a:spcPts val="2250"/>
              </a:lnSpc>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red;</a:t>
            </a:r>
          </a:p>
          <a:p>
            <a:pPr>
              <a:lnSpc>
                <a:spcPts val="2250"/>
              </a:lnSpc>
            </a:pPr>
            <a:r>
              <a:rPr lang="en-US" b="0" dirty="0">
                <a:solidFill>
                  <a:srgbClr val="D4D4D4"/>
                </a:solidFill>
                <a:effectLst/>
                <a:latin typeface="Consolas" panose="020B0609020204030204" pitchFamily="49" charset="0"/>
              </a:rPr>
              <a:t>}</a:t>
            </a:r>
          </a:p>
          <a:p>
            <a:pPr>
              <a:lnSpc>
                <a:spcPts val="2250"/>
              </a:lnSpc>
            </a:pPr>
            <a:r>
              <a:rPr lang="en-US" b="0" dirty="0">
                <a:solidFill>
                  <a:srgbClr val="D7BA7D"/>
                </a:solidFill>
                <a:effectLst/>
                <a:latin typeface="Consolas" panose="020B0609020204030204" pitchFamily="49" charset="0"/>
              </a:rPr>
              <a:t>.container</a:t>
            </a:r>
            <a:r>
              <a:rPr lang="en-US" b="0" dirty="0">
                <a:solidFill>
                  <a:srgbClr val="D4D4D4"/>
                </a:solidFill>
                <a:effectLst/>
                <a:latin typeface="Consolas" panose="020B0609020204030204" pitchFamily="49" charset="0"/>
              </a:rPr>
              <a:t> </a:t>
            </a:r>
            <a:r>
              <a:rPr lang="en-US" b="0" dirty="0" err="1">
                <a:solidFill>
                  <a:srgbClr val="D7BA7D"/>
                </a:solidFill>
                <a:effectLst/>
                <a:latin typeface="Consolas" panose="020B0609020204030204" pitchFamily="49" charset="0"/>
              </a:rPr>
              <a:t>div:nth-child</a:t>
            </a:r>
            <a:r>
              <a:rPr lang="en-US" b="0" dirty="0">
                <a:solidFill>
                  <a:srgbClr val="D4D4D4"/>
                </a:solidFill>
                <a:effectLst/>
                <a:latin typeface="Consolas" panose="020B0609020204030204" pitchFamily="49" charset="0"/>
              </a:rPr>
              <a:t>(even) {</a:t>
            </a:r>
          </a:p>
          <a:p>
            <a:pPr>
              <a:lnSpc>
                <a:spcPts val="2250"/>
              </a:lnSpc>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blue;</a:t>
            </a:r>
          </a:p>
          <a:p>
            <a:pPr>
              <a:lnSpc>
                <a:spcPts val="2250"/>
              </a:lnSpc>
            </a:pPr>
            <a:r>
              <a:rPr lang="en-US" b="0" dirty="0">
                <a:solidFill>
                  <a:srgbClr val="D4D4D4"/>
                </a:solidFill>
                <a:effectLst/>
                <a:latin typeface="Consolas" panose="020B0609020204030204" pitchFamily="49" charset="0"/>
              </a:rPr>
              <a:t>}</a:t>
            </a:r>
          </a:p>
          <a:p>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11</a:t>
            </a:fld>
            <a:endParaRPr lang="en-US"/>
          </a:p>
        </p:txBody>
      </p:sp>
    </p:spTree>
    <p:extLst>
      <p:ext uri="{BB962C8B-B14F-4D97-AF65-F5344CB8AC3E}">
        <p14:creationId xmlns:p14="http://schemas.microsoft.com/office/powerpoint/2010/main" val="639175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flex-flow</a:t>
            </a:r>
          </a:p>
          <a:p>
            <a:r>
              <a:rPr lang="en-US" dirty="0"/>
              <a:t>This is a shorthand property for flex-direction and flex-wrap.</a:t>
            </a:r>
          </a:p>
        </p:txBody>
      </p:sp>
      <p:sp>
        <p:nvSpPr>
          <p:cNvPr id="4" name="Slide Number Placeholder 3"/>
          <p:cNvSpPr>
            <a:spLocks noGrp="1"/>
          </p:cNvSpPr>
          <p:nvPr>
            <p:ph type="sldNum" sz="quarter" idx="5"/>
          </p:nvPr>
        </p:nvSpPr>
        <p:spPr/>
        <p:txBody>
          <a:bodyPr/>
          <a:lstStyle/>
          <a:p>
            <a:fld id="{8FBF27BA-BE48-4F7F-B3F3-34C2A37D9121}" type="slidenum">
              <a:rPr lang="en-US" smtClean="0"/>
              <a:t>13</a:t>
            </a:fld>
            <a:endParaRPr lang="en-US"/>
          </a:p>
        </p:txBody>
      </p:sp>
    </p:spTree>
    <p:extLst>
      <p:ext uri="{BB962C8B-B14F-4D97-AF65-F5344CB8AC3E}">
        <p14:creationId xmlns:p14="http://schemas.microsoft.com/office/powerpoint/2010/main" val="2681513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8FAFF"/>
                </a:solidFill>
                <a:effectLst/>
                <a:latin typeface="DeepSeek-CJK-patch"/>
              </a:rPr>
              <a:t>The </a:t>
            </a:r>
            <a:r>
              <a:rPr lang="en-US" dirty="0"/>
              <a:t>baseline</a:t>
            </a:r>
            <a:r>
              <a:rPr lang="en-US" b="0" i="0" dirty="0">
                <a:solidFill>
                  <a:srgbClr val="F8FAFF"/>
                </a:solidFill>
                <a:effectLst/>
                <a:latin typeface="DeepSeek-CJK-patch"/>
              </a:rPr>
              <a:t> value aligns flex items based on the </a:t>
            </a:r>
            <a:r>
              <a:rPr lang="en-US" b="1" i="0" dirty="0">
                <a:solidFill>
                  <a:srgbClr val="F8FAFF"/>
                </a:solidFill>
                <a:effectLst/>
                <a:latin typeface="DeepSeek-CJK-patch"/>
              </a:rPr>
              <a:t>baseline of their text content</a:t>
            </a:r>
            <a:r>
              <a:rPr lang="en-US" b="0" i="0" dirty="0">
                <a:solidFill>
                  <a:srgbClr val="F8FAFF"/>
                </a:solidFill>
                <a:effectLst/>
                <a:latin typeface="DeepSeek-CJK-patch"/>
              </a:rPr>
              <a:t>, rather than their container or their own height. </a:t>
            </a:r>
          </a:p>
          <a:p>
            <a:r>
              <a:rPr lang="en-US" b="0" i="0" dirty="0">
                <a:solidFill>
                  <a:srgbClr val="F8FAFF"/>
                </a:solidFill>
                <a:effectLst/>
                <a:latin typeface="DeepSeek-CJK-patch"/>
              </a:rPr>
              <a:t>This is useful when you want text in different-sized items to line up neatly.</a:t>
            </a:r>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19</a:t>
            </a:fld>
            <a:endParaRPr lang="en-US"/>
          </a:p>
        </p:txBody>
      </p:sp>
    </p:spTree>
    <p:extLst>
      <p:ext uri="{BB962C8B-B14F-4D97-AF65-F5344CB8AC3E}">
        <p14:creationId xmlns:p14="http://schemas.microsoft.com/office/powerpoint/2010/main" val="3819402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align-items </a:t>
            </a:r>
            <a:r>
              <a:rPr lang="en-US" dirty="0">
                <a:effectLst/>
                <a:sym typeface="Wingdings" panose="05000000000000000000" pitchFamily="2" charset="2"/>
              </a:rPr>
              <a:t> </a:t>
            </a:r>
            <a:r>
              <a:rPr lang="en-US" dirty="0">
                <a:effectLst/>
              </a:rPr>
              <a:t>Single line of items + All flex items + Aligns items within a single line along the cross axis.</a:t>
            </a:r>
          </a:p>
          <a:p>
            <a:r>
              <a:rPr lang="en-US" dirty="0">
                <a:effectLst/>
              </a:rPr>
              <a:t>align-content </a:t>
            </a:r>
            <a:r>
              <a:rPr lang="en-US" dirty="0">
                <a:effectLst/>
                <a:sym typeface="Wingdings" panose="05000000000000000000" pitchFamily="2" charset="2"/>
              </a:rPr>
              <a:t> </a:t>
            </a:r>
            <a:r>
              <a:rPr lang="en-US" dirty="0">
                <a:effectLst/>
              </a:rPr>
              <a:t>Multiple lines +Flex lines (rows/columns) +Aligns the entire set of lines when there is extra space in the cross axis.</a:t>
            </a:r>
            <a:br>
              <a:rPr lang="en-US" dirty="0"/>
            </a:br>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20</a:t>
            </a:fld>
            <a:endParaRPr lang="en-US"/>
          </a:p>
        </p:txBody>
      </p:sp>
    </p:spTree>
    <p:extLst>
      <p:ext uri="{BB962C8B-B14F-4D97-AF65-F5344CB8AC3E}">
        <p14:creationId xmlns:p14="http://schemas.microsoft.com/office/powerpoint/2010/main" val="1896687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a:t>
            </a:r>
            <a:r>
              <a:rPr lang="en-US" dirty="0">
                <a:sym typeface="Wingdings" panose="05000000000000000000" pitchFamily="2" charset="2"/>
              </a:rPr>
              <a:t></a:t>
            </a:r>
            <a:r>
              <a:rPr lang="en-US" dirty="0"/>
              <a:t>largest one ==&gt; go to last </a:t>
            </a:r>
          </a:p>
        </p:txBody>
      </p:sp>
      <p:sp>
        <p:nvSpPr>
          <p:cNvPr id="4" name="Slide Number Placeholder 3"/>
          <p:cNvSpPr>
            <a:spLocks noGrp="1"/>
          </p:cNvSpPr>
          <p:nvPr>
            <p:ph type="sldNum" sz="quarter" idx="5"/>
          </p:nvPr>
        </p:nvSpPr>
        <p:spPr/>
        <p:txBody>
          <a:bodyPr/>
          <a:lstStyle/>
          <a:p>
            <a:fld id="{8FBF27BA-BE48-4F7F-B3F3-34C2A37D9121}" type="slidenum">
              <a:rPr lang="en-US" smtClean="0"/>
              <a:t>23</a:t>
            </a:fld>
            <a:endParaRPr lang="en-US"/>
          </a:p>
        </p:txBody>
      </p:sp>
    </p:spTree>
    <p:extLst>
      <p:ext uri="{BB962C8B-B14F-4D97-AF65-F5344CB8AC3E}">
        <p14:creationId xmlns:p14="http://schemas.microsoft.com/office/powerpoint/2010/main" val="2538558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941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97651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135FAE-47C0-4BC8-935F-45FDBB12D6A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463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135FAE-47C0-4BC8-935F-45FDBB12D6AD}"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14595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135FAE-47C0-4BC8-935F-45FDBB12D6AD}" type="datetimeFigureOut">
              <a:rPr lang="en-US" smtClean="0"/>
              <a:t>8/26/2025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84367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135FAE-47C0-4BC8-935F-45FDBB12D6AD}" type="datetimeFigureOut">
              <a:rPr lang="en-US" smtClean="0"/>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736130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35FAE-47C0-4BC8-935F-45FDBB12D6AD}" type="datetimeFigureOut">
              <a:rPr lang="en-US" smtClean="0"/>
              <a:t>8/26/2025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631798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135FAE-47C0-4BC8-935F-45FDBB12D6AD}" type="datetimeFigureOut">
              <a:rPr lang="en-US" smtClean="0"/>
              <a:t>8/26/2025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412674-96B2-4886-8558-ED5FB3F6CE70}" type="slidenum">
              <a:rPr lang="en-US" smtClean="0"/>
              <a:t>‹#›</a:t>
            </a:fld>
            <a:endParaRPr lang="en-US"/>
          </a:p>
        </p:txBody>
      </p:sp>
    </p:spTree>
    <p:extLst>
      <p:ext uri="{BB962C8B-B14F-4D97-AF65-F5344CB8AC3E}">
        <p14:creationId xmlns:p14="http://schemas.microsoft.com/office/powerpoint/2010/main" val="8999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135FAE-47C0-4BC8-935F-45FDBB12D6AD}"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177868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8358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57878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135FAE-47C0-4BC8-935F-45FDBB12D6AD}" type="datetimeFigureOut">
              <a:rPr lang="en-US" smtClean="0"/>
              <a:t>8/26/2025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412674-96B2-4886-8558-ED5FB3F6CE7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441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thanmarcotte.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speckyboy.com/getting-started-css-flexbox/"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dirty="0"/>
              <a:t>Responsive Web Design</a:t>
            </a:r>
          </a:p>
        </p:txBody>
      </p:sp>
      <p:sp>
        <p:nvSpPr>
          <p:cNvPr id="3" name="Subtitle 2">
            <a:extLst>
              <a:ext uri="{FF2B5EF4-FFF2-40B4-BE49-F238E27FC236}">
                <a16:creationId xmlns:a16="http://schemas.microsoft.com/office/drawing/2014/main" id="{D2AE19C9-1B2B-4E7A-BCA9-FB1BB13632EE}"/>
              </a:ext>
            </a:extLst>
          </p:cNvPr>
          <p:cNvSpPr>
            <a:spLocks noGrp="1"/>
          </p:cNvSpPr>
          <p:nvPr>
            <p:ph type="subTitle" idx="1"/>
          </p:nvPr>
        </p:nvSpPr>
        <p:spPr/>
        <p:txBody>
          <a:bodyPr/>
          <a:lstStyle/>
          <a:p>
            <a:r>
              <a:rPr lang="en-US" b="1" dirty="0" err="1">
                <a:solidFill>
                  <a:schemeClr val="accent1">
                    <a:lumMod val="75000"/>
                  </a:schemeClr>
                </a:solidFill>
                <a:latin typeface="Freestyle Script" panose="030804020302050B0404" pitchFamily="66" charset="0"/>
              </a:rPr>
              <a:t>Eng</a:t>
            </a:r>
            <a:r>
              <a:rPr lang="en-US" b="1" dirty="0">
                <a:solidFill>
                  <a:schemeClr val="accent1">
                    <a:lumMod val="75000"/>
                  </a:schemeClr>
                </a:solidFill>
                <a:latin typeface="Freestyle Script" panose="030804020302050B0404" pitchFamily="66" charset="0"/>
              </a:rPr>
              <a:t>/</a:t>
            </a:r>
            <a:r>
              <a:rPr lang="en-US" b="1" dirty="0" err="1">
                <a:solidFill>
                  <a:schemeClr val="accent1">
                    <a:lumMod val="75000"/>
                  </a:schemeClr>
                </a:solidFill>
                <a:latin typeface="Freestyle Script" panose="030804020302050B0404" pitchFamily="66" charset="0"/>
              </a:rPr>
              <a:t>Ryhab</a:t>
            </a:r>
            <a:r>
              <a:rPr lang="en-US" b="1" dirty="0">
                <a:solidFill>
                  <a:schemeClr val="accent1">
                    <a:lumMod val="75000"/>
                  </a:schemeClr>
                </a:solidFill>
                <a:latin typeface="Freestyle Script" panose="030804020302050B0404" pitchFamily="66" charset="0"/>
              </a:rPr>
              <a:t> </a:t>
            </a:r>
            <a:r>
              <a:rPr lang="en-US" b="1" dirty="0" err="1">
                <a:solidFill>
                  <a:schemeClr val="accent1">
                    <a:lumMod val="75000"/>
                  </a:schemeClr>
                </a:solidFill>
                <a:latin typeface="Freestyle Script" panose="030804020302050B0404" pitchFamily="66" charset="0"/>
              </a:rPr>
              <a:t>farouq</a:t>
            </a:r>
            <a:endParaRPr lang="en-US" b="1" dirty="0">
              <a:solidFill>
                <a:schemeClr val="accent1">
                  <a:lumMod val="75000"/>
                </a:schemeClr>
              </a:solidFill>
              <a:latin typeface="Freestyle Script" panose="030804020302050B0404" pitchFamily="66" charset="0"/>
            </a:endParaRPr>
          </a:p>
        </p:txBody>
      </p:sp>
    </p:spTree>
    <p:extLst>
      <p:ext uri="{BB962C8B-B14F-4D97-AF65-F5344CB8AC3E}">
        <p14:creationId xmlns:p14="http://schemas.microsoft.com/office/powerpoint/2010/main" val="340645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B088-B3CA-2041-7093-2682323F54AE}"/>
              </a:ext>
            </a:extLst>
          </p:cNvPr>
          <p:cNvSpPr>
            <a:spLocks noGrp="1"/>
          </p:cNvSpPr>
          <p:nvPr>
            <p:ph type="title"/>
          </p:nvPr>
        </p:nvSpPr>
        <p:spPr/>
        <p:txBody>
          <a:bodyPr/>
          <a:lstStyle/>
          <a:p>
            <a:r>
              <a:rPr lang="en-US" dirty="0"/>
              <a:t>Meaning of RWD</a:t>
            </a:r>
          </a:p>
        </p:txBody>
      </p:sp>
      <p:sp>
        <p:nvSpPr>
          <p:cNvPr id="3" name="Content Placeholder 2">
            <a:extLst>
              <a:ext uri="{FF2B5EF4-FFF2-40B4-BE49-F238E27FC236}">
                <a16:creationId xmlns:a16="http://schemas.microsoft.com/office/drawing/2014/main" id="{3C5C82A8-C3D1-8863-E7E8-AC72A9011DC2}"/>
              </a:ext>
            </a:extLst>
          </p:cNvPr>
          <p:cNvSpPr>
            <a:spLocks noGrp="1"/>
          </p:cNvSpPr>
          <p:nvPr>
            <p:ph idx="1"/>
          </p:nvPr>
        </p:nvSpPr>
        <p:spPr/>
        <p:txBody>
          <a:bodyPr>
            <a:normAutofit/>
          </a:bodyPr>
          <a:lstStyle/>
          <a:p>
            <a:r>
              <a:rPr lang="en-US" b="0" i="0" dirty="0">
                <a:solidFill>
                  <a:srgbClr val="333333"/>
                </a:solidFill>
                <a:effectLst/>
              </a:rPr>
              <a:t>Responsive design teams create a single site to support many devices, but need to consider content, design and performance across devices to ensure usability</a:t>
            </a:r>
            <a:r>
              <a:rPr lang="en-US" sz="1800" b="0" i="0" dirty="0">
                <a:solidFill>
                  <a:srgbClr val="333333"/>
                </a:solidFill>
                <a:effectLst/>
              </a:rPr>
              <a:t>.</a:t>
            </a:r>
          </a:p>
          <a:p>
            <a:endParaRPr lang="en-US" sz="1800" dirty="0"/>
          </a:p>
        </p:txBody>
      </p:sp>
      <p:pic>
        <p:nvPicPr>
          <p:cNvPr id="4" name="Picture 3">
            <a:extLst>
              <a:ext uri="{FF2B5EF4-FFF2-40B4-BE49-F238E27FC236}">
                <a16:creationId xmlns:a16="http://schemas.microsoft.com/office/drawing/2014/main" id="{0B31C7FB-BBAD-ECB9-AB9F-04F3367607B4}"/>
              </a:ext>
            </a:extLst>
          </p:cNvPr>
          <p:cNvPicPr>
            <a:picLocks noChangeAspect="1"/>
          </p:cNvPicPr>
          <p:nvPr/>
        </p:nvPicPr>
        <p:blipFill>
          <a:blip r:embed="rId2"/>
          <a:stretch>
            <a:fillRect/>
          </a:stretch>
        </p:blipFill>
        <p:spPr>
          <a:xfrm>
            <a:off x="162838" y="2836296"/>
            <a:ext cx="11661732" cy="2638425"/>
          </a:xfrm>
          <a:prstGeom prst="rect">
            <a:avLst/>
          </a:prstGeom>
        </p:spPr>
      </p:pic>
    </p:spTree>
    <p:extLst>
      <p:ext uri="{BB962C8B-B14F-4D97-AF65-F5344CB8AC3E}">
        <p14:creationId xmlns:p14="http://schemas.microsoft.com/office/powerpoint/2010/main" val="1073283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C658C-FDF6-2145-090F-7542400C3891}"/>
              </a:ext>
            </a:extLst>
          </p:cNvPr>
          <p:cNvSpPr>
            <a:spLocks noGrp="1"/>
          </p:cNvSpPr>
          <p:nvPr>
            <p:ph type="title"/>
          </p:nvPr>
        </p:nvSpPr>
        <p:spPr/>
        <p:txBody>
          <a:bodyPr/>
          <a:lstStyle/>
          <a:p>
            <a:r>
              <a:rPr lang="en-US" dirty="0"/>
              <a:t>RWD</a:t>
            </a:r>
          </a:p>
        </p:txBody>
      </p:sp>
      <p:sp>
        <p:nvSpPr>
          <p:cNvPr id="3" name="Content Placeholder 2">
            <a:extLst>
              <a:ext uri="{FF2B5EF4-FFF2-40B4-BE49-F238E27FC236}">
                <a16:creationId xmlns:a16="http://schemas.microsoft.com/office/drawing/2014/main" id="{130DAB99-CF21-BC05-1F32-2ACC4D1F59FA}"/>
              </a:ext>
            </a:extLst>
          </p:cNvPr>
          <p:cNvSpPr>
            <a:spLocks noGrp="1"/>
          </p:cNvSpPr>
          <p:nvPr>
            <p:ph idx="1"/>
          </p:nvPr>
        </p:nvSpPr>
        <p:spPr/>
        <p:txBody>
          <a:bodyPr/>
          <a:lstStyle/>
          <a:p>
            <a:r>
              <a:rPr lang="en-US" dirty="0"/>
              <a:t>Responsive Web Design was first introduced by Ethan Marcotte in 2009.</a:t>
            </a:r>
          </a:p>
          <a:p>
            <a:r>
              <a:rPr lang="en-US" dirty="0">
                <a:solidFill>
                  <a:schemeClr val="accent1">
                    <a:lumMod val="75000"/>
                  </a:schemeClr>
                </a:solidFill>
                <a:hlinkClick r:id="rId2">
                  <a:extLst>
                    <a:ext uri="{A12FA001-AC4F-418D-AE19-62706E023703}">
                      <ahyp:hlinkClr xmlns:ahyp="http://schemas.microsoft.com/office/drawing/2018/hyperlinkcolor" val="tx"/>
                    </a:ext>
                  </a:extLst>
                </a:hlinkClick>
              </a:rPr>
              <a:t>Welcome to Ethan Marcotte’s website — Ethan Marcotte</a:t>
            </a:r>
            <a:endParaRPr lang="en-US" dirty="0">
              <a:solidFill>
                <a:schemeClr val="accent1">
                  <a:lumMod val="75000"/>
                </a:schemeClr>
              </a:solidFill>
            </a:endParaRPr>
          </a:p>
          <a:p>
            <a:endParaRPr lang="en-US" dirty="0"/>
          </a:p>
          <a:p>
            <a:endParaRPr lang="en-US" dirty="0"/>
          </a:p>
          <a:p>
            <a:pPr algn="ctr"/>
            <a:r>
              <a:rPr lang="en-US" sz="3600" b="1" dirty="0">
                <a:solidFill>
                  <a:schemeClr val="accent2">
                    <a:lumMod val="75000"/>
                  </a:schemeClr>
                </a:solidFill>
              </a:rPr>
              <a:t>Think responsively.. Think Mobile First</a:t>
            </a:r>
          </a:p>
          <a:p>
            <a:endParaRPr lang="en-US" dirty="0"/>
          </a:p>
        </p:txBody>
      </p:sp>
    </p:spTree>
    <p:extLst>
      <p:ext uri="{BB962C8B-B14F-4D97-AF65-F5344CB8AC3E}">
        <p14:creationId xmlns:p14="http://schemas.microsoft.com/office/powerpoint/2010/main" val="260458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0AB44-BF45-9CCF-7607-AADE539C43BB}"/>
              </a:ext>
            </a:extLst>
          </p:cNvPr>
          <p:cNvSpPr>
            <a:spLocks noGrp="1"/>
          </p:cNvSpPr>
          <p:nvPr>
            <p:ph type="title"/>
          </p:nvPr>
        </p:nvSpPr>
        <p:spPr/>
        <p:txBody>
          <a:bodyPr/>
          <a:lstStyle/>
          <a:p>
            <a:r>
              <a:rPr lang="en-US" dirty="0"/>
              <a:t>Viewport</a:t>
            </a:r>
          </a:p>
        </p:txBody>
      </p:sp>
      <p:sp>
        <p:nvSpPr>
          <p:cNvPr id="3" name="Content Placeholder 2">
            <a:extLst>
              <a:ext uri="{FF2B5EF4-FFF2-40B4-BE49-F238E27FC236}">
                <a16:creationId xmlns:a16="http://schemas.microsoft.com/office/drawing/2014/main" id="{02F967C7-A91B-619A-67B6-7D234D3C8CA8}"/>
              </a:ext>
            </a:extLst>
          </p:cNvPr>
          <p:cNvSpPr>
            <a:spLocks noGrp="1"/>
          </p:cNvSpPr>
          <p:nvPr>
            <p:ph idx="1"/>
          </p:nvPr>
        </p:nvSpPr>
        <p:spPr/>
        <p:txBody>
          <a:bodyPr/>
          <a:lstStyle/>
          <a:p>
            <a:r>
              <a:rPr lang="en-US" dirty="0"/>
              <a:t>Viewport is defined area to display website independent on device screen.</a:t>
            </a:r>
          </a:p>
          <a:p>
            <a:r>
              <a:rPr lang="en-US" dirty="0"/>
              <a:t>Identify and control viewport and its initial scale factor to override </a:t>
            </a:r>
            <a:r>
              <a:rPr lang="en-US" dirty="0" err="1"/>
              <a:t>useragent</a:t>
            </a:r>
            <a:r>
              <a:rPr lang="en-US" dirty="0"/>
              <a:t>.</a:t>
            </a:r>
          </a:p>
          <a:p>
            <a:endParaRPr lang="en-US" dirty="0"/>
          </a:p>
          <a:p>
            <a:pPr algn="ctr"/>
            <a:r>
              <a:rPr lang="en-US" sz="2800" b="1" dirty="0">
                <a:solidFill>
                  <a:schemeClr val="accent2">
                    <a:lumMod val="75000"/>
                  </a:schemeClr>
                </a:solidFill>
              </a:rPr>
              <a:t>&lt;meta name=“viewport” content=“”/&gt;</a:t>
            </a:r>
          </a:p>
          <a:p>
            <a:endParaRPr lang="en-US" dirty="0"/>
          </a:p>
          <a:p>
            <a:endParaRPr lang="en-US" dirty="0"/>
          </a:p>
        </p:txBody>
      </p:sp>
    </p:spTree>
    <p:extLst>
      <p:ext uri="{BB962C8B-B14F-4D97-AF65-F5344CB8AC3E}">
        <p14:creationId xmlns:p14="http://schemas.microsoft.com/office/powerpoint/2010/main" val="1950454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EB5B3-3F17-7779-F414-5F6D6BD7E88B}"/>
              </a:ext>
            </a:extLst>
          </p:cNvPr>
          <p:cNvSpPr>
            <a:spLocks noGrp="1"/>
          </p:cNvSpPr>
          <p:nvPr>
            <p:ph type="title"/>
          </p:nvPr>
        </p:nvSpPr>
        <p:spPr/>
        <p:txBody>
          <a:bodyPr/>
          <a:lstStyle/>
          <a:p>
            <a:r>
              <a:rPr lang="en-US" dirty="0"/>
              <a:t>Terminologies</a:t>
            </a:r>
          </a:p>
        </p:txBody>
      </p:sp>
      <p:sp>
        <p:nvSpPr>
          <p:cNvPr id="3" name="Content Placeholder 2">
            <a:extLst>
              <a:ext uri="{FF2B5EF4-FFF2-40B4-BE49-F238E27FC236}">
                <a16:creationId xmlns:a16="http://schemas.microsoft.com/office/drawing/2014/main" id="{95855D0D-033A-CB9D-CD82-FC475DF5E337}"/>
              </a:ext>
            </a:extLst>
          </p:cNvPr>
          <p:cNvSpPr>
            <a:spLocks noGrp="1"/>
          </p:cNvSpPr>
          <p:nvPr>
            <p:ph idx="1"/>
          </p:nvPr>
        </p:nvSpPr>
        <p:spPr/>
        <p:txBody>
          <a:bodyPr>
            <a:normAutofit/>
          </a:bodyPr>
          <a:lstStyle/>
          <a:p>
            <a:pPr>
              <a:buFont typeface="Wingdings" panose="05000000000000000000" pitchFamily="2" charset="2"/>
              <a:buChar char="§"/>
            </a:pPr>
            <a:r>
              <a:rPr lang="en-US" sz="2400" b="1" dirty="0">
                <a:solidFill>
                  <a:schemeClr val="accent2">
                    <a:lumMod val="75000"/>
                  </a:schemeClr>
                </a:solidFill>
              </a:rPr>
              <a:t>Responsive design </a:t>
            </a:r>
            <a:r>
              <a:rPr lang="en-US" sz="2400" dirty="0"/>
              <a:t>is where website isn’t fixed with single size, It responds to users’ device automatically </a:t>
            </a:r>
          </a:p>
          <a:p>
            <a:pPr>
              <a:buFont typeface="Wingdings" panose="05000000000000000000" pitchFamily="2" charset="2"/>
              <a:buChar char="§"/>
            </a:pPr>
            <a:r>
              <a:rPr lang="en-US" sz="2400" b="1" dirty="0">
                <a:solidFill>
                  <a:schemeClr val="accent2">
                    <a:lumMod val="75000"/>
                  </a:schemeClr>
                </a:solidFill>
              </a:rPr>
              <a:t>Adaptive design </a:t>
            </a:r>
            <a:r>
              <a:rPr lang="en-US" sz="2400" dirty="0"/>
              <a:t>is where created website redesign itself as per the device size</a:t>
            </a:r>
          </a:p>
          <a:p>
            <a:pPr>
              <a:buFont typeface="Wingdings" panose="05000000000000000000" pitchFamily="2" charset="2"/>
              <a:buChar char="§"/>
            </a:pPr>
            <a:r>
              <a:rPr lang="en-US" sz="2400" b="1" dirty="0">
                <a:solidFill>
                  <a:schemeClr val="accent2">
                    <a:lumMod val="75000"/>
                  </a:schemeClr>
                </a:solidFill>
              </a:rPr>
              <a:t>Negative space </a:t>
            </a:r>
            <a:r>
              <a:rPr lang="en-US" sz="2400" dirty="0"/>
              <a:t>is empty space between elements to it more readable &amp; standout </a:t>
            </a:r>
          </a:p>
          <a:p>
            <a:pPr marL="0" indent="0">
              <a:buNone/>
            </a:pPr>
            <a:r>
              <a:rPr lang="en-US" sz="2400" dirty="0"/>
              <a:t>            ▻ padding or margins are great strategy to create it</a:t>
            </a:r>
          </a:p>
        </p:txBody>
      </p:sp>
    </p:spTree>
    <p:extLst>
      <p:ext uri="{BB962C8B-B14F-4D97-AF65-F5344CB8AC3E}">
        <p14:creationId xmlns:p14="http://schemas.microsoft.com/office/powerpoint/2010/main" val="1404186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226F-F0B5-FCA5-8D63-AFDDB6A08394}"/>
              </a:ext>
            </a:extLst>
          </p:cNvPr>
          <p:cNvSpPr>
            <a:spLocks noGrp="1"/>
          </p:cNvSpPr>
          <p:nvPr>
            <p:ph type="title"/>
          </p:nvPr>
        </p:nvSpPr>
        <p:spPr/>
        <p:txBody>
          <a:bodyPr/>
          <a:lstStyle/>
          <a:p>
            <a:r>
              <a:rPr lang="en-US" dirty="0"/>
              <a:t>Web Layout</a:t>
            </a:r>
          </a:p>
        </p:txBody>
      </p:sp>
      <p:pic>
        <p:nvPicPr>
          <p:cNvPr id="4" name="Content Placeholder 3">
            <a:extLst>
              <a:ext uri="{FF2B5EF4-FFF2-40B4-BE49-F238E27FC236}">
                <a16:creationId xmlns:a16="http://schemas.microsoft.com/office/drawing/2014/main" id="{A592C9D9-1ACA-6EA1-27F3-471D1C7096DA}"/>
              </a:ext>
            </a:extLst>
          </p:cNvPr>
          <p:cNvPicPr>
            <a:picLocks noGrp="1" noChangeAspect="1"/>
          </p:cNvPicPr>
          <p:nvPr>
            <p:ph idx="1"/>
          </p:nvPr>
        </p:nvPicPr>
        <p:blipFill>
          <a:blip r:embed="rId2"/>
          <a:stretch>
            <a:fillRect/>
          </a:stretch>
        </p:blipFill>
        <p:spPr>
          <a:xfrm>
            <a:off x="1601788" y="2009775"/>
            <a:ext cx="9048750" cy="3695700"/>
          </a:xfrm>
          <a:prstGeom prst="rect">
            <a:avLst/>
          </a:prstGeom>
        </p:spPr>
      </p:pic>
    </p:spTree>
    <p:extLst>
      <p:ext uri="{BB962C8B-B14F-4D97-AF65-F5344CB8AC3E}">
        <p14:creationId xmlns:p14="http://schemas.microsoft.com/office/powerpoint/2010/main" val="2235358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00E14-C790-C637-5060-5D1E9B5FF4DE}"/>
              </a:ext>
            </a:extLst>
          </p:cNvPr>
          <p:cNvSpPr>
            <a:spLocks noGrp="1"/>
          </p:cNvSpPr>
          <p:nvPr>
            <p:ph type="title"/>
          </p:nvPr>
        </p:nvSpPr>
        <p:spPr/>
        <p:txBody>
          <a:bodyPr/>
          <a:lstStyle/>
          <a:p>
            <a:r>
              <a:rPr lang="en-US" dirty="0"/>
              <a:t>RWD Fundamentals </a:t>
            </a:r>
          </a:p>
        </p:txBody>
      </p:sp>
      <p:sp>
        <p:nvSpPr>
          <p:cNvPr id="3" name="Content Placeholder 2">
            <a:extLst>
              <a:ext uri="{FF2B5EF4-FFF2-40B4-BE49-F238E27FC236}">
                <a16:creationId xmlns:a16="http://schemas.microsoft.com/office/drawing/2014/main" id="{7370ED7D-004E-2250-95A3-9F8FDDFEBF3E}"/>
              </a:ext>
            </a:extLst>
          </p:cNvPr>
          <p:cNvSpPr>
            <a:spLocks noGrp="1"/>
          </p:cNvSpPr>
          <p:nvPr>
            <p:ph idx="1"/>
          </p:nvPr>
        </p:nvSpPr>
        <p:spPr/>
        <p:txBody>
          <a:bodyPr/>
          <a:lstStyle/>
          <a:p>
            <a:pPr>
              <a:buFont typeface="Wingdings" panose="05000000000000000000" pitchFamily="2" charset="2"/>
              <a:buChar char="§"/>
            </a:pPr>
            <a:r>
              <a:rPr lang="en-US" dirty="0"/>
              <a:t>Flexbox</a:t>
            </a:r>
          </a:p>
          <a:p>
            <a:pPr>
              <a:buFont typeface="Wingdings" panose="05000000000000000000" pitchFamily="2" charset="2"/>
              <a:buChar char="§"/>
            </a:pPr>
            <a:r>
              <a:rPr lang="en-US" dirty="0"/>
              <a:t>Grid system</a:t>
            </a:r>
          </a:p>
          <a:p>
            <a:pPr>
              <a:buFont typeface="Wingdings" panose="05000000000000000000" pitchFamily="2" charset="2"/>
              <a:buChar char="§"/>
            </a:pPr>
            <a:r>
              <a:rPr lang="en-US" dirty="0"/>
              <a:t>Media queries</a:t>
            </a:r>
          </a:p>
          <a:p>
            <a:pPr>
              <a:buFont typeface="Wingdings" panose="05000000000000000000" pitchFamily="2" charset="2"/>
              <a:buChar char="§"/>
            </a:pPr>
            <a:r>
              <a:rPr lang="en-US" dirty="0"/>
              <a:t>Responsive frameworks ‘bootstrap’</a:t>
            </a:r>
          </a:p>
        </p:txBody>
      </p:sp>
    </p:spTree>
    <p:extLst>
      <p:ext uri="{BB962C8B-B14F-4D97-AF65-F5344CB8AC3E}">
        <p14:creationId xmlns:p14="http://schemas.microsoft.com/office/powerpoint/2010/main" val="39845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Flexbox</a:t>
            </a:r>
          </a:p>
        </p:txBody>
      </p:sp>
    </p:spTree>
    <p:extLst>
      <p:ext uri="{BB962C8B-B14F-4D97-AF65-F5344CB8AC3E}">
        <p14:creationId xmlns:p14="http://schemas.microsoft.com/office/powerpoint/2010/main" val="2513449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Flexbox</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One dimensional layout model .</a:t>
            </a:r>
          </a:p>
          <a:p>
            <a:pPr>
              <a:buFont typeface="Wingdings" panose="05000000000000000000" pitchFamily="2" charset="2"/>
              <a:buChar char="§"/>
            </a:pPr>
            <a:r>
              <a:rPr lang="en-US" dirty="0"/>
              <a:t>Flexible and efficient layouts</a:t>
            </a:r>
          </a:p>
          <a:p>
            <a:pPr>
              <a:buFont typeface="Wingdings" panose="05000000000000000000" pitchFamily="2" charset="2"/>
              <a:buChar char="§"/>
            </a:pPr>
            <a:r>
              <a:rPr lang="en-US" dirty="0"/>
              <a:t>Distribute space among items</a:t>
            </a:r>
          </a:p>
          <a:p>
            <a:pPr>
              <a:buFont typeface="Wingdings" panose="05000000000000000000" pitchFamily="2" charset="2"/>
              <a:buChar char="§"/>
            </a:pPr>
            <a:r>
              <a:rPr lang="en-US" dirty="0"/>
              <a:t>Control their alignment</a:t>
            </a:r>
          </a:p>
        </p:txBody>
      </p:sp>
    </p:spTree>
    <p:extLst>
      <p:ext uri="{BB962C8B-B14F-4D97-AF65-F5344CB8AC3E}">
        <p14:creationId xmlns:p14="http://schemas.microsoft.com/office/powerpoint/2010/main" val="1291721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Why Flexbox ?</a:t>
            </a:r>
          </a:p>
        </p:txBody>
      </p:sp>
      <p:sp>
        <p:nvSpPr>
          <p:cNvPr id="3" name="Content Placeholder 2">
            <a:extLst>
              <a:ext uri="{FF2B5EF4-FFF2-40B4-BE49-F238E27FC236}">
                <a16:creationId xmlns:a16="http://schemas.microsoft.com/office/drawing/2014/main" id="{FDE41732-9437-4665-AF25-E0B10758F4F0}"/>
              </a:ext>
            </a:extLst>
          </p:cNvPr>
          <p:cNvSpPr>
            <a:spLocks noGrp="1"/>
          </p:cNvSpPr>
          <p:nvPr>
            <p:ph idx="1"/>
          </p:nvPr>
        </p:nvSpPr>
        <p:spPr/>
        <p:txBody>
          <a:bodyPr/>
          <a:lstStyle/>
          <a:p>
            <a:pPr>
              <a:buFont typeface="Wingdings" panose="05000000000000000000" pitchFamily="2" charset="2"/>
              <a:buChar char="Ø"/>
            </a:pPr>
            <a:r>
              <a:rPr lang="en-US" dirty="0"/>
              <a:t>A lot of flexibility </a:t>
            </a:r>
          </a:p>
          <a:p>
            <a:pPr>
              <a:buFont typeface="Wingdings" panose="05000000000000000000" pitchFamily="2" charset="2"/>
              <a:buChar char="Ø"/>
            </a:pPr>
            <a:r>
              <a:rPr lang="en-US" dirty="0"/>
              <a:t>Arrange items</a:t>
            </a:r>
          </a:p>
          <a:p>
            <a:pPr>
              <a:buFont typeface="Wingdings" panose="05000000000000000000" pitchFamily="2" charset="2"/>
              <a:buChar char="Ø"/>
            </a:pPr>
            <a:r>
              <a:rPr lang="en-US" dirty="0"/>
              <a:t>Spacing</a:t>
            </a:r>
          </a:p>
          <a:p>
            <a:pPr>
              <a:buFont typeface="Wingdings" panose="05000000000000000000" pitchFamily="2" charset="2"/>
              <a:buChar char="Ø"/>
            </a:pPr>
            <a:r>
              <a:rPr lang="en-US" dirty="0"/>
              <a:t>Alignment</a:t>
            </a:r>
          </a:p>
          <a:p>
            <a:pPr>
              <a:buFont typeface="Wingdings" panose="05000000000000000000" pitchFamily="2" charset="2"/>
              <a:buChar char="Ø"/>
            </a:pPr>
            <a:r>
              <a:rPr lang="en-US" dirty="0"/>
              <a:t>Order of items</a:t>
            </a:r>
          </a:p>
          <a:p>
            <a:pPr>
              <a:buFont typeface="Wingdings" panose="05000000000000000000" pitchFamily="2" charset="2"/>
              <a:buChar char="Ø"/>
            </a:pPr>
            <a:r>
              <a:rPr lang="en-US" dirty="0"/>
              <a:t>Bootstrap is built on top of the flex layout</a:t>
            </a:r>
          </a:p>
        </p:txBody>
      </p:sp>
    </p:spTree>
    <p:extLst>
      <p:ext uri="{BB962C8B-B14F-4D97-AF65-F5344CB8AC3E}">
        <p14:creationId xmlns:p14="http://schemas.microsoft.com/office/powerpoint/2010/main" val="1984735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dirty="0"/>
              <a:t>Flex 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dirty="0"/>
              <a:t>Flex 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3961946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Flexbox Axes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dirty="0"/>
              <a:t>Main axis</a:t>
            </a:r>
          </a:p>
          <a:p>
            <a:pPr>
              <a:buFont typeface="Wingdings" panose="05000000000000000000" pitchFamily="2" charset="2"/>
              <a:buChar char="Ø"/>
            </a:pPr>
            <a:r>
              <a:rPr lang="en-US" dirty="0"/>
              <a:t>Cross axis</a:t>
            </a:r>
          </a:p>
          <a:p>
            <a:pPr marL="0" indent="0">
              <a:buNone/>
            </a:pPr>
            <a:endParaRPr lang="en-US" dirty="0"/>
          </a:p>
        </p:txBody>
      </p:sp>
      <p:pic>
        <p:nvPicPr>
          <p:cNvPr id="4" name="Picture 3">
            <a:extLst>
              <a:ext uri="{FF2B5EF4-FFF2-40B4-BE49-F238E27FC236}">
                <a16:creationId xmlns:a16="http://schemas.microsoft.com/office/drawing/2014/main" id="{8C60D543-9A92-4E71-B9FB-9353A27C55C4}"/>
              </a:ext>
            </a:extLst>
          </p:cNvPr>
          <p:cNvPicPr>
            <a:picLocks noChangeAspect="1"/>
          </p:cNvPicPr>
          <p:nvPr/>
        </p:nvPicPr>
        <p:blipFill>
          <a:blip r:embed="rId2"/>
          <a:stretch>
            <a:fillRect/>
          </a:stretch>
        </p:blipFill>
        <p:spPr>
          <a:xfrm>
            <a:off x="1036320" y="2743200"/>
            <a:ext cx="9997440" cy="3494762"/>
          </a:xfrm>
          <a:prstGeom prst="rect">
            <a:avLst/>
          </a:prstGeom>
        </p:spPr>
      </p:pic>
    </p:spTree>
    <p:extLst>
      <p:ext uri="{BB962C8B-B14F-4D97-AF65-F5344CB8AC3E}">
        <p14:creationId xmlns:p14="http://schemas.microsoft.com/office/powerpoint/2010/main" val="2193228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Flex Container Properties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dirty="0"/>
              <a:t>Display</a:t>
            </a:r>
          </a:p>
          <a:p>
            <a:pPr>
              <a:buFont typeface="Wingdings" panose="05000000000000000000" pitchFamily="2" charset="2"/>
              <a:buChar char="Ø"/>
            </a:pPr>
            <a:r>
              <a:rPr lang="en-US" dirty="0"/>
              <a:t>Flex-direction</a:t>
            </a:r>
          </a:p>
          <a:p>
            <a:pPr>
              <a:buFont typeface="Wingdings" panose="05000000000000000000" pitchFamily="2" charset="2"/>
              <a:buChar char="Ø"/>
            </a:pPr>
            <a:r>
              <a:rPr lang="en-US" dirty="0"/>
              <a:t>Flex-wrap</a:t>
            </a:r>
          </a:p>
          <a:p>
            <a:pPr>
              <a:buFont typeface="Wingdings" panose="05000000000000000000" pitchFamily="2" charset="2"/>
              <a:buChar char="Ø"/>
            </a:pPr>
            <a:r>
              <a:rPr lang="en-US" dirty="0"/>
              <a:t>Flex-flow</a:t>
            </a:r>
          </a:p>
          <a:p>
            <a:pPr>
              <a:buFont typeface="Wingdings" panose="05000000000000000000" pitchFamily="2" charset="2"/>
              <a:buChar char="Ø"/>
            </a:pPr>
            <a:r>
              <a:rPr lang="en-US" dirty="0"/>
              <a:t>Justify-content</a:t>
            </a:r>
          </a:p>
          <a:p>
            <a:pPr>
              <a:buFont typeface="Wingdings" panose="05000000000000000000" pitchFamily="2" charset="2"/>
              <a:buChar char="Ø"/>
            </a:pPr>
            <a:r>
              <a:rPr lang="en-US" dirty="0"/>
              <a:t>Align-items</a:t>
            </a:r>
          </a:p>
          <a:p>
            <a:pPr>
              <a:buFont typeface="Wingdings" panose="05000000000000000000" pitchFamily="2" charset="2"/>
              <a:buChar char="Ø"/>
            </a:pPr>
            <a:r>
              <a:rPr lang="en-US" dirty="0"/>
              <a:t>Align-content</a:t>
            </a:r>
          </a:p>
          <a:p>
            <a:pPr>
              <a:buFont typeface="Wingdings" panose="05000000000000000000" pitchFamily="2" charset="2"/>
              <a:buChar char="Ø"/>
            </a:pPr>
            <a:r>
              <a:rPr lang="en-US" dirty="0"/>
              <a:t>Gap</a:t>
            </a:r>
          </a:p>
        </p:txBody>
      </p:sp>
    </p:spTree>
    <p:extLst>
      <p:ext uri="{BB962C8B-B14F-4D97-AF65-F5344CB8AC3E}">
        <p14:creationId xmlns:p14="http://schemas.microsoft.com/office/powerpoint/2010/main" val="2048954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864C-98E5-4D76-BC92-96AC9B20847F}"/>
              </a:ext>
            </a:extLst>
          </p:cNvPr>
          <p:cNvSpPr>
            <a:spLocks noGrp="1"/>
          </p:cNvSpPr>
          <p:nvPr>
            <p:ph type="title"/>
          </p:nvPr>
        </p:nvSpPr>
        <p:spPr/>
        <p:txBody>
          <a:bodyPr/>
          <a:lstStyle/>
          <a:p>
            <a:r>
              <a:rPr lang="en-US" dirty="0"/>
              <a:t>Display</a:t>
            </a:r>
          </a:p>
        </p:txBody>
      </p:sp>
      <p:sp>
        <p:nvSpPr>
          <p:cNvPr id="3" name="Content Placeholder 2">
            <a:extLst>
              <a:ext uri="{FF2B5EF4-FFF2-40B4-BE49-F238E27FC236}">
                <a16:creationId xmlns:a16="http://schemas.microsoft.com/office/drawing/2014/main" id="{FA588CAB-65A6-46DC-A61E-70BF32ACF3CA}"/>
              </a:ext>
            </a:extLst>
          </p:cNvPr>
          <p:cNvSpPr>
            <a:spLocks noGrp="1"/>
          </p:cNvSpPr>
          <p:nvPr>
            <p:ph idx="1"/>
          </p:nvPr>
        </p:nvSpPr>
        <p:spPr/>
        <p:txBody>
          <a:bodyPr/>
          <a:lstStyle/>
          <a:p>
            <a:r>
              <a:rPr lang="en-US" dirty="0"/>
              <a:t>Create either a block level or inline level flex container.</a:t>
            </a:r>
          </a:p>
          <a:p>
            <a:pPr>
              <a:buFont typeface="Wingdings" panose="05000000000000000000" pitchFamily="2" charset="2"/>
              <a:buChar char="Ø"/>
            </a:pPr>
            <a:r>
              <a:rPr lang="en-US" dirty="0"/>
              <a:t>Flex</a:t>
            </a:r>
          </a:p>
          <a:p>
            <a:pPr>
              <a:buFont typeface="Wingdings" panose="05000000000000000000" pitchFamily="2" charset="2"/>
              <a:buChar char="Ø"/>
            </a:pPr>
            <a:r>
              <a:rPr lang="en-US" dirty="0"/>
              <a:t>Inline-flex</a:t>
            </a:r>
          </a:p>
          <a:p>
            <a:endParaRPr lang="en-US" dirty="0"/>
          </a:p>
        </p:txBody>
      </p:sp>
    </p:spTree>
    <p:extLst>
      <p:ext uri="{BB962C8B-B14F-4D97-AF65-F5344CB8AC3E}">
        <p14:creationId xmlns:p14="http://schemas.microsoft.com/office/powerpoint/2010/main" val="2398916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52AA-08BD-451B-BE02-BDDAC503B270}"/>
              </a:ext>
            </a:extLst>
          </p:cNvPr>
          <p:cNvSpPr>
            <a:spLocks noGrp="1"/>
          </p:cNvSpPr>
          <p:nvPr>
            <p:ph type="title"/>
          </p:nvPr>
        </p:nvSpPr>
        <p:spPr/>
        <p:txBody>
          <a:bodyPr/>
          <a:lstStyle/>
          <a:p>
            <a:r>
              <a:rPr lang="en-US" dirty="0"/>
              <a:t>Flex-direction</a:t>
            </a:r>
          </a:p>
        </p:txBody>
      </p:sp>
      <p:sp>
        <p:nvSpPr>
          <p:cNvPr id="3" name="Content Placeholder 2">
            <a:extLst>
              <a:ext uri="{FF2B5EF4-FFF2-40B4-BE49-F238E27FC236}">
                <a16:creationId xmlns:a16="http://schemas.microsoft.com/office/drawing/2014/main" id="{B2D41833-28EE-43FA-930E-6DF4E340E18E}"/>
              </a:ext>
            </a:extLst>
          </p:cNvPr>
          <p:cNvSpPr>
            <a:spLocks noGrp="1"/>
          </p:cNvSpPr>
          <p:nvPr>
            <p:ph idx="1"/>
          </p:nvPr>
        </p:nvSpPr>
        <p:spPr/>
        <p:txBody>
          <a:bodyPr/>
          <a:lstStyle/>
          <a:p>
            <a:r>
              <a:rPr lang="en-US" dirty="0"/>
              <a:t>Sets the direction of the main axis.</a:t>
            </a:r>
          </a:p>
          <a:p>
            <a:pPr>
              <a:buFont typeface="Wingdings" panose="05000000000000000000" pitchFamily="2" charset="2"/>
              <a:buChar char="Ø"/>
            </a:pPr>
            <a:r>
              <a:rPr lang="en-US" dirty="0"/>
              <a:t>Row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Row-reverse</a:t>
            </a:r>
          </a:p>
          <a:p>
            <a:pPr>
              <a:buFont typeface="Wingdings" panose="05000000000000000000" pitchFamily="2" charset="2"/>
              <a:buChar char="Ø"/>
            </a:pPr>
            <a:r>
              <a:rPr lang="en-US" dirty="0"/>
              <a:t>Column</a:t>
            </a:r>
          </a:p>
          <a:p>
            <a:pPr>
              <a:buFont typeface="Wingdings" panose="05000000000000000000" pitchFamily="2" charset="2"/>
              <a:buChar char="Ø"/>
            </a:pPr>
            <a:r>
              <a:rPr lang="en-US" dirty="0"/>
              <a:t>Column-reverse</a:t>
            </a:r>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v"/>
            </a:pPr>
            <a:endParaRPr lang="en-US" dirty="0"/>
          </a:p>
        </p:txBody>
      </p:sp>
      <p:pic>
        <p:nvPicPr>
          <p:cNvPr id="5" name="Picture 4">
            <a:extLst>
              <a:ext uri="{FF2B5EF4-FFF2-40B4-BE49-F238E27FC236}">
                <a16:creationId xmlns:a16="http://schemas.microsoft.com/office/drawing/2014/main" id="{2E2B0C38-23B5-6E5F-7520-EBB1E5C39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9373" y="2407850"/>
            <a:ext cx="5406307" cy="2549913"/>
          </a:xfrm>
          <a:prstGeom prst="rect">
            <a:avLst/>
          </a:prstGeom>
        </p:spPr>
      </p:pic>
    </p:spTree>
    <p:extLst>
      <p:ext uri="{BB962C8B-B14F-4D97-AF65-F5344CB8AC3E}">
        <p14:creationId xmlns:p14="http://schemas.microsoft.com/office/powerpoint/2010/main" val="3279755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9C04C-CB64-4EFF-8F9C-38161E0C1D51}"/>
              </a:ext>
            </a:extLst>
          </p:cNvPr>
          <p:cNvSpPr>
            <a:spLocks noGrp="1"/>
          </p:cNvSpPr>
          <p:nvPr>
            <p:ph type="title"/>
          </p:nvPr>
        </p:nvSpPr>
        <p:spPr/>
        <p:txBody>
          <a:bodyPr/>
          <a:lstStyle/>
          <a:p>
            <a:r>
              <a:rPr lang="en-US" dirty="0"/>
              <a:t>Flex-wrap</a:t>
            </a:r>
          </a:p>
        </p:txBody>
      </p:sp>
      <p:sp>
        <p:nvSpPr>
          <p:cNvPr id="3" name="Content Placeholder 2">
            <a:extLst>
              <a:ext uri="{FF2B5EF4-FFF2-40B4-BE49-F238E27FC236}">
                <a16:creationId xmlns:a16="http://schemas.microsoft.com/office/drawing/2014/main" id="{2250D676-FE2B-4825-AF73-82629402B486}"/>
              </a:ext>
            </a:extLst>
          </p:cNvPr>
          <p:cNvSpPr>
            <a:spLocks noGrp="1"/>
          </p:cNvSpPr>
          <p:nvPr>
            <p:ph idx="1"/>
          </p:nvPr>
        </p:nvSpPr>
        <p:spPr/>
        <p:txBody>
          <a:bodyPr/>
          <a:lstStyle/>
          <a:p>
            <a:r>
              <a:rPr lang="en-US" dirty="0"/>
              <a:t>Control the wrapping of flex items within the container.</a:t>
            </a:r>
          </a:p>
          <a:p>
            <a:pPr>
              <a:buFont typeface="Wingdings" panose="05000000000000000000" pitchFamily="2" charset="2"/>
              <a:buChar char="Ø"/>
            </a:pPr>
            <a:r>
              <a:rPr lang="en-US" dirty="0" err="1"/>
              <a:t>Nowrap</a:t>
            </a:r>
            <a:r>
              <a:rPr lang="en-US" dirty="0"/>
              <a: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Wrap</a:t>
            </a:r>
          </a:p>
          <a:p>
            <a:pPr>
              <a:buFont typeface="Wingdings" panose="05000000000000000000" pitchFamily="2" charset="2"/>
              <a:buChar char="Ø"/>
            </a:pPr>
            <a:r>
              <a:rPr lang="en-US" dirty="0"/>
              <a:t>Wrap-reverse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push the last item above instead of below</a:t>
            </a:r>
            <a:endParaRPr lang="en-US" dirty="0"/>
          </a:p>
        </p:txBody>
      </p:sp>
      <p:pic>
        <p:nvPicPr>
          <p:cNvPr id="5" name="Picture 4">
            <a:extLst>
              <a:ext uri="{FF2B5EF4-FFF2-40B4-BE49-F238E27FC236}">
                <a16:creationId xmlns:a16="http://schemas.microsoft.com/office/drawing/2014/main" id="{5C5C2E7B-08D7-5370-D39C-D2A93F2DD8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5831" y="3667043"/>
            <a:ext cx="4710558" cy="2476581"/>
          </a:xfrm>
          <a:prstGeom prst="rect">
            <a:avLst/>
          </a:prstGeom>
        </p:spPr>
      </p:pic>
    </p:spTree>
    <p:extLst>
      <p:ext uri="{BB962C8B-B14F-4D97-AF65-F5344CB8AC3E}">
        <p14:creationId xmlns:p14="http://schemas.microsoft.com/office/powerpoint/2010/main" val="3909750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6581-FCFD-4CE0-82B3-04EB0A0C0E0F}"/>
              </a:ext>
            </a:extLst>
          </p:cNvPr>
          <p:cNvSpPr>
            <a:spLocks noGrp="1"/>
          </p:cNvSpPr>
          <p:nvPr>
            <p:ph type="title"/>
          </p:nvPr>
        </p:nvSpPr>
        <p:spPr/>
        <p:txBody>
          <a:bodyPr/>
          <a:lstStyle/>
          <a:p>
            <a:r>
              <a:rPr lang="en-US" dirty="0"/>
              <a:t>Flex-flow</a:t>
            </a:r>
          </a:p>
        </p:txBody>
      </p:sp>
      <p:sp>
        <p:nvSpPr>
          <p:cNvPr id="3" name="Content Placeholder 2">
            <a:extLst>
              <a:ext uri="{FF2B5EF4-FFF2-40B4-BE49-F238E27FC236}">
                <a16:creationId xmlns:a16="http://schemas.microsoft.com/office/drawing/2014/main" id="{E8CA8EFC-B204-46F8-BECF-32A22480A792}"/>
              </a:ext>
            </a:extLst>
          </p:cNvPr>
          <p:cNvSpPr>
            <a:spLocks noGrp="1"/>
          </p:cNvSpPr>
          <p:nvPr>
            <p:ph idx="1"/>
          </p:nvPr>
        </p:nvSpPr>
        <p:spPr/>
        <p:txBody>
          <a:bodyPr/>
          <a:lstStyle/>
          <a:p>
            <a:r>
              <a:rPr lang="en-US" dirty="0"/>
              <a:t>Shorthand for flex-direction and flex-wrap.</a:t>
            </a:r>
          </a:p>
          <a:p>
            <a:endParaRPr lang="en-US" dirty="0"/>
          </a:p>
          <a:p>
            <a:pPr>
              <a:buFont typeface="Wingdings" panose="05000000000000000000" pitchFamily="2" charset="2"/>
              <a:buChar char="Ø"/>
            </a:pPr>
            <a:r>
              <a:rPr lang="en-US" dirty="0"/>
              <a:t>Flex-flow</a:t>
            </a:r>
            <a:r>
              <a:rPr lang="en-US" b="1" dirty="0">
                <a:solidFill>
                  <a:schemeClr val="accent1">
                    <a:lumMod val="75000"/>
                  </a:schemeClr>
                </a:solidFill>
              </a:rPr>
              <a:t> : </a:t>
            </a:r>
            <a:r>
              <a:rPr lang="en-US" dirty="0"/>
              <a:t>&lt;</a:t>
            </a:r>
            <a:r>
              <a:rPr lang="en-US" dirty="0">
                <a:solidFill>
                  <a:schemeClr val="accent1">
                    <a:lumMod val="75000"/>
                  </a:schemeClr>
                </a:solidFill>
              </a:rPr>
              <a:t>flex-direction</a:t>
            </a:r>
            <a:r>
              <a:rPr lang="en-US" dirty="0"/>
              <a:t>&gt; &lt;</a:t>
            </a:r>
            <a:r>
              <a:rPr lang="en-US" dirty="0">
                <a:solidFill>
                  <a:schemeClr val="accent1">
                    <a:lumMod val="75000"/>
                  </a:schemeClr>
                </a:solidFill>
              </a:rPr>
              <a:t>flex-wrap</a:t>
            </a:r>
            <a:r>
              <a:rPr lang="en-US" dirty="0"/>
              <a:t>&gt;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the Default is row </a:t>
            </a:r>
            <a:r>
              <a:rPr lang="en-US" dirty="0" err="1">
                <a:sym typeface="Wingdings" panose="05000000000000000000" pitchFamily="2" charset="2"/>
              </a:rPr>
              <a:t>nowrap</a:t>
            </a:r>
            <a:endParaRPr lang="en-US" dirty="0"/>
          </a:p>
        </p:txBody>
      </p:sp>
    </p:spTree>
    <p:extLst>
      <p:ext uri="{BB962C8B-B14F-4D97-AF65-F5344CB8AC3E}">
        <p14:creationId xmlns:p14="http://schemas.microsoft.com/office/powerpoint/2010/main" val="3236705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730C8-F1BC-4098-9EF5-839E90C14A21}"/>
              </a:ext>
            </a:extLst>
          </p:cNvPr>
          <p:cNvSpPr>
            <a:spLocks noGrp="1"/>
          </p:cNvSpPr>
          <p:nvPr>
            <p:ph type="title"/>
          </p:nvPr>
        </p:nvSpPr>
        <p:spPr/>
        <p:txBody>
          <a:bodyPr/>
          <a:lstStyle/>
          <a:p>
            <a:r>
              <a:rPr lang="en-US" dirty="0"/>
              <a:t>Justify-content</a:t>
            </a:r>
          </a:p>
        </p:txBody>
      </p:sp>
      <p:sp>
        <p:nvSpPr>
          <p:cNvPr id="3" name="Content Placeholder 2">
            <a:extLst>
              <a:ext uri="{FF2B5EF4-FFF2-40B4-BE49-F238E27FC236}">
                <a16:creationId xmlns:a16="http://schemas.microsoft.com/office/drawing/2014/main" id="{54DA77EE-AEE5-4886-B1E8-AED050687E77}"/>
              </a:ext>
            </a:extLst>
          </p:cNvPr>
          <p:cNvSpPr>
            <a:spLocks noGrp="1"/>
          </p:cNvSpPr>
          <p:nvPr>
            <p:ph idx="1"/>
          </p:nvPr>
        </p:nvSpPr>
        <p:spPr/>
        <p:txBody>
          <a:bodyPr/>
          <a:lstStyle/>
          <a:p>
            <a:r>
              <a:rPr lang="en-US" dirty="0"/>
              <a:t>Align items and distribute any extra spacing in the parent container.</a:t>
            </a:r>
          </a:p>
          <a:p>
            <a:r>
              <a:rPr lang="en-US" dirty="0"/>
              <a:t>The alignment is always along the main axis.</a:t>
            </a:r>
          </a:p>
          <a:p>
            <a:pPr>
              <a:buFont typeface="Wingdings" panose="05000000000000000000" pitchFamily="2" charset="2"/>
              <a:buChar char="Ø"/>
            </a:pPr>
            <a:r>
              <a:rPr lang="en-US" dirty="0"/>
              <a:t>Flex-start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Space-evenly</a:t>
            </a:r>
          </a:p>
        </p:txBody>
      </p:sp>
      <p:pic>
        <p:nvPicPr>
          <p:cNvPr id="5" name="Picture 4">
            <a:extLst>
              <a:ext uri="{FF2B5EF4-FFF2-40B4-BE49-F238E27FC236}">
                <a16:creationId xmlns:a16="http://schemas.microsoft.com/office/drawing/2014/main" id="{662030F5-57B8-A311-AEE4-71ACFB44B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463" y="2115785"/>
            <a:ext cx="2883217" cy="3861683"/>
          </a:xfrm>
          <a:prstGeom prst="rect">
            <a:avLst/>
          </a:prstGeom>
        </p:spPr>
      </p:pic>
    </p:spTree>
    <p:extLst>
      <p:ext uri="{BB962C8B-B14F-4D97-AF65-F5344CB8AC3E}">
        <p14:creationId xmlns:p14="http://schemas.microsoft.com/office/powerpoint/2010/main" val="3699948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498B-CE1C-4C40-872C-FF76EBDAFB4A}"/>
              </a:ext>
            </a:extLst>
          </p:cNvPr>
          <p:cNvSpPr>
            <a:spLocks noGrp="1"/>
          </p:cNvSpPr>
          <p:nvPr>
            <p:ph type="title"/>
          </p:nvPr>
        </p:nvSpPr>
        <p:spPr/>
        <p:txBody>
          <a:bodyPr/>
          <a:lstStyle/>
          <a:p>
            <a:r>
              <a:rPr lang="en-US" dirty="0"/>
              <a:t>Align-Items</a:t>
            </a:r>
          </a:p>
        </p:txBody>
      </p:sp>
      <p:sp>
        <p:nvSpPr>
          <p:cNvPr id="3" name="Content Placeholder 2">
            <a:extLst>
              <a:ext uri="{FF2B5EF4-FFF2-40B4-BE49-F238E27FC236}">
                <a16:creationId xmlns:a16="http://schemas.microsoft.com/office/drawing/2014/main" id="{21E16260-046E-4989-9483-1CD02E76BC3F}"/>
              </a:ext>
            </a:extLst>
          </p:cNvPr>
          <p:cNvSpPr>
            <a:spLocks noGrp="1"/>
          </p:cNvSpPr>
          <p:nvPr>
            <p:ph idx="1"/>
          </p:nvPr>
        </p:nvSpPr>
        <p:spPr/>
        <p:txBody>
          <a:bodyPr/>
          <a:lstStyle/>
          <a:p>
            <a:r>
              <a:rPr lang="en-US" dirty="0"/>
              <a:t>Align items along the cross axis.</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Baseline</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E40CE1BE-2AA0-E551-FD7A-5CADADCCF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4935" y="1845734"/>
            <a:ext cx="3520745" cy="4404742"/>
          </a:xfrm>
          <a:prstGeom prst="rect">
            <a:avLst/>
          </a:prstGeom>
        </p:spPr>
      </p:pic>
    </p:spTree>
    <p:extLst>
      <p:ext uri="{BB962C8B-B14F-4D97-AF65-F5344CB8AC3E}">
        <p14:creationId xmlns:p14="http://schemas.microsoft.com/office/powerpoint/2010/main" val="798666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302E-336F-4164-9B2A-E695E50CE853}"/>
              </a:ext>
            </a:extLst>
          </p:cNvPr>
          <p:cNvSpPr>
            <a:spLocks noGrp="1"/>
          </p:cNvSpPr>
          <p:nvPr>
            <p:ph type="title"/>
          </p:nvPr>
        </p:nvSpPr>
        <p:spPr/>
        <p:txBody>
          <a:bodyPr/>
          <a:lstStyle/>
          <a:p>
            <a:r>
              <a:rPr lang="en-US" dirty="0"/>
              <a:t>Align-Content</a:t>
            </a:r>
          </a:p>
        </p:txBody>
      </p:sp>
      <p:sp>
        <p:nvSpPr>
          <p:cNvPr id="3" name="Content Placeholder 2">
            <a:extLst>
              <a:ext uri="{FF2B5EF4-FFF2-40B4-BE49-F238E27FC236}">
                <a16:creationId xmlns:a16="http://schemas.microsoft.com/office/drawing/2014/main" id="{0D221063-B47F-4A39-A596-C3D25D827CD9}"/>
              </a:ext>
            </a:extLst>
          </p:cNvPr>
          <p:cNvSpPr>
            <a:spLocks noGrp="1"/>
          </p:cNvSpPr>
          <p:nvPr>
            <p:ph idx="1"/>
          </p:nvPr>
        </p:nvSpPr>
        <p:spPr/>
        <p:txBody>
          <a:bodyPr/>
          <a:lstStyle/>
          <a:p>
            <a:r>
              <a:rPr lang="en-US" dirty="0"/>
              <a:t>Aligns lines of content along the cross axis and distribute any extra spacing in the parent container .</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52F6DB17-1A82-BCB6-BDE2-016434E988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6532" y="2274359"/>
            <a:ext cx="2869148" cy="3896136"/>
          </a:xfrm>
          <a:prstGeom prst="rect">
            <a:avLst/>
          </a:prstGeom>
        </p:spPr>
      </p:pic>
    </p:spTree>
    <p:extLst>
      <p:ext uri="{BB962C8B-B14F-4D97-AF65-F5344CB8AC3E}">
        <p14:creationId xmlns:p14="http://schemas.microsoft.com/office/powerpoint/2010/main" val="1663229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847-EAEC-C9FF-6163-541881BB488A}"/>
              </a:ext>
            </a:extLst>
          </p:cNvPr>
          <p:cNvSpPr>
            <a:spLocks noGrp="1"/>
          </p:cNvSpPr>
          <p:nvPr>
            <p:ph type="title"/>
          </p:nvPr>
        </p:nvSpPr>
        <p:spPr/>
        <p:txBody>
          <a:bodyPr/>
          <a:lstStyle/>
          <a:p>
            <a:r>
              <a:rPr lang="en-US" dirty="0"/>
              <a:t>Gap</a:t>
            </a:r>
          </a:p>
        </p:txBody>
      </p:sp>
      <p:sp>
        <p:nvSpPr>
          <p:cNvPr id="3" name="Content Placeholder 2">
            <a:extLst>
              <a:ext uri="{FF2B5EF4-FFF2-40B4-BE49-F238E27FC236}">
                <a16:creationId xmlns:a16="http://schemas.microsoft.com/office/drawing/2014/main" id="{8EC7FC5D-13C3-EB9F-2ED8-F4F0C94FEE25}"/>
              </a:ext>
            </a:extLst>
          </p:cNvPr>
          <p:cNvSpPr>
            <a:spLocks noGrp="1"/>
          </p:cNvSpPr>
          <p:nvPr>
            <p:ph idx="1"/>
          </p:nvPr>
        </p:nvSpPr>
        <p:spPr/>
        <p:txBody>
          <a:bodyPr/>
          <a:lstStyle/>
          <a:p>
            <a:pPr>
              <a:buFont typeface="Wingdings" panose="05000000000000000000" pitchFamily="2" charset="2"/>
              <a:buChar char="Ø"/>
            </a:pPr>
            <a:r>
              <a:rPr lang="en-US" dirty="0"/>
              <a:t> gap </a:t>
            </a:r>
            <a:r>
              <a:rPr lang="en-US" b="1" dirty="0">
                <a:solidFill>
                  <a:schemeClr val="accent1">
                    <a:lumMod val="75000"/>
                  </a:schemeClr>
                </a:solidFill>
              </a:rPr>
              <a:t>:</a:t>
            </a:r>
            <a:r>
              <a:rPr lang="en-US" dirty="0"/>
              <a:t> row column</a:t>
            </a:r>
          </a:p>
        </p:txBody>
      </p:sp>
      <p:pic>
        <p:nvPicPr>
          <p:cNvPr id="5" name="Picture 4">
            <a:extLst>
              <a:ext uri="{FF2B5EF4-FFF2-40B4-BE49-F238E27FC236}">
                <a16:creationId xmlns:a16="http://schemas.microsoft.com/office/drawing/2014/main" id="{048CBDDF-DD2D-C70F-8988-3909B6A4A8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9099" y="1930897"/>
            <a:ext cx="5746581" cy="4046571"/>
          </a:xfrm>
          <a:prstGeom prst="rect">
            <a:avLst/>
          </a:prstGeom>
        </p:spPr>
      </p:pic>
    </p:spTree>
    <p:extLst>
      <p:ext uri="{BB962C8B-B14F-4D97-AF65-F5344CB8AC3E}">
        <p14:creationId xmlns:p14="http://schemas.microsoft.com/office/powerpoint/2010/main" val="3136612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1749F-7F26-4937-8005-882185C401E5}"/>
              </a:ext>
            </a:extLst>
          </p:cNvPr>
          <p:cNvSpPr>
            <a:spLocks noGrp="1"/>
          </p:cNvSpPr>
          <p:nvPr>
            <p:ph type="title"/>
          </p:nvPr>
        </p:nvSpPr>
        <p:spPr/>
        <p:txBody>
          <a:bodyPr/>
          <a:lstStyle/>
          <a:p>
            <a:r>
              <a:rPr lang="en-US" dirty="0"/>
              <a:t>Flex Items Properties</a:t>
            </a:r>
          </a:p>
        </p:txBody>
      </p:sp>
      <p:sp>
        <p:nvSpPr>
          <p:cNvPr id="3" name="Content Placeholder 2">
            <a:extLst>
              <a:ext uri="{FF2B5EF4-FFF2-40B4-BE49-F238E27FC236}">
                <a16:creationId xmlns:a16="http://schemas.microsoft.com/office/drawing/2014/main" id="{1F45B3A9-9B5A-4EA7-962E-E3FBDD4ECB15}"/>
              </a:ext>
            </a:extLst>
          </p:cNvPr>
          <p:cNvSpPr>
            <a:spLocks noGrp="1"/>
          </p:cNvSpPr>
          <p:nvPr>
            <p:ph idx="1"/>
          </p:nvPr>
        </p:nvSpPr>
        <p:spPr/>
        <p:txBody>
          <a:bodyPr/>
          <a:lstStyle/>
          <a:p>
            <a:pPr>
              <a:buFont typeface="Wingdings" panose="05000000000000000000" pitchFamily="2" charset="2"/>
              <a:buChar char="Ø"/>
            </a:pPr>
            <a:r>
              <a:rPr lang="en-US" dirty="0"/>
              <a:t>Order</a:t>
            </a:r>
          </a:p>
          <a:p>
            <a:pPr>
              <a:buFont typeface="Wingdings" panose="05000000000000000000" pitchFamily="2" charset="2"/>
              <a:buChar char="Ø"/>
            </a:pPr>
            <a:r>
              <a:rPr lang="en-US" dirty="0"/>
              <a:t>Flex-grow</a:t>
            </a:r>
          </a:p>
        </p:txBody>
      </p:sp>
    </p:spTree>
    <p:extLst>
      <p:ext uri="{BB962C8B-B14F-4D97-AF65-F5344CB8AC3E}">
        <p14:creationId xmlns:p14="http://schemas.microsoft.com/office/powerpoint/2010/main" val="3588706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204A-8239-42DE-B9E9-51B552B8CEC2}"/>
              </a:ext>
            </a:extLst>
          </p:cNvPr>
          <p:cNvSpPr>
            <a:spLocks noGrp="1"/>
          </p:cNvSpPr>
          <p:nvPr>
            <p:ph type="title"/>
          </p:nvPr>
        </p:nvSpPr>
        <p:spPr/>
        <p:txBody>
          <a:bodyPr/>
          <a:lstStyle/>
          <a:p>
            <a:r>
              <a:rPr lang="en-US" dirty="0"/>
              <a:t>Order </a:t>
            </a:r>
          </a:p>
        </p:txBody>
      </p:sp>
      <p:sp>
        <p:nvSpPr>
          <p:cNvPr id="3" name="Content Placeholder 2">
            <a:extLst>
              <a:ext uri="{FF2B5EF4-FFF2-40B4-BE49-F238E27FC236}">
                <a16:creationId xmlns:a16="http://schemas.microsoft.com/office/drawing/2014/main" id="{FBF605D7-0690-40E4-A0FB-635D107A9B36}"/>
              </a:ext>
            </a:extLst>
          </p:cNvPr>
          <p:cNvSpPr>
            <a:spLocks noGrp="1"/>
          </p:cNvSpPr>
          <p:nvPr>
            <p:ph idx="1"/>
          </p:nvPr>
        </p:nvSpPr>
        <p:spPr/>
        <p:txBody>
          <a:bodyPr/>
          <a:lstStyle/>
          <a:p>
            <a:r>
              <a:rPr lang="en-US" dirty="0"/>
              <a:t>Control the order of items in the flex container .</a:t>
            </a:r>
          </a:p>
          <a:p>
            <a:r>
              <a:rPr lang="en-US" b="1" dirty="0">
                <a:solidFill>
                  <a:schemeClr val="accent1">
                    <a:lumMod val="75000"/>
                  </a:schemeClr>
                </a:solidFill>
              </a:rPr>
              <a:t>Zero</a:t>
            </a:r>
            <a:r>
              <a:rPr lang="en-US" dirty="0"/>
              <a:t> is the default value .</a:t>
            </a:r>
          </a:p>
        </p:txBody>
      </p:sp>
      <p:pic>
        <p:nvPicPr>
          <p:cNvPr id="5" name="Picture 4">
            <a:extLst>
              <a:ext uri="{FF2B5EF4-FFF2-40B4-BE49-F238E27FC236}">
                <a16:creationId xmlns:a16="http://schemas.microsoft.com/office/drawing/2014/main" id="{4B5012BC-708F-8F3C-F145-A3472E4027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9010" y="2066648"/>
            <a:ext cx="4136670" cy="3581532"/>
          </a:xfrm>
          <a:prstGeom prst="rect">
            <a:avLst/>
          </a:prstGeom>
        </p:spPr>
      </p:pic>
    </p:spTree>
    <p:extLst>
      <p:ext uri="{BB962C8B-B14F-4D97-AF65-F5344CB8AC3E}">
        <p14:creationId xmlns:p14="http://schemas.microsoft.com/office/powerpoint/2010/main" val="3442608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E9E3B-A591-4388-9C16-9D05FE701F1B}"/>
              </a:ext>
            </a:extLst>
          </p:cNvPr>
          <p:cNvSpPr>
            <a:spLocks noGrp="1"/>
          </p:cNvSpPr>
          <p:nvPr>
            <p:ph type="title"/>
          </p:nvPr>
        </p:nvSpPr>
        <p:spPr/>
        <p:txBody>
          <a:bodyPr/>
          <a:lstStyle/>
          <a:p>
            <a:r>
              <a:rPr lang="en-US" dirty="0"/>
              <a:t>Flex-Grow</a:t>
            </a:r>
          </a:p>
        </p:txBody>
      </p:sp>
      <p:sp>
        <p:nvSpPr>
          <p:cNvPr id="3" name="Content Placeholder 2">
            <a:extLst>
              <a:ext uri="{FF2B5EF4-FFF2-40B4-BE49-F238E27FC236}">
                <a16:creationId xmlns:a16="http://schemas.microsoft.com/office/drawing/2014/main" id="{FC4A948E-E4A7-45F6-92B7-4414BC628AB1}"/>
              </a:ext>
            </a:extLst>
          </p:cNvPr>
          <p:cNvSpPr>
            <a:spLocks noGrp="1"/>
          </p:cNvSpPr>
          <p:nvPr>
            <p:ph idx="1"/>
          </p:nvPr>
        </p:nvSpPr>
        <p:spPr/>
        <p:txBody>
          <a:bodyPr/>
          <a:lstStyle/>
          <a:p>
            <a:r>
              <a:rPr lang="en-US" dirty="0"/>
              <a:t>Dictates what amount of the available space inside the flex container the items should take up.</a:t>
            </a:r>
          </a:p>
          <a:p>
            <a:r>
              <a:rPr lang="en-US" dirty="0"/>
              <a:t>Relative to other items in the container.</a:t>
            </a:r>
          </a:p>
          <a:p>
            <a:r>
              <a:rPr lang="en-US" dirty="0"/>
              <a:t>Default value is </a:t>
            </a:r>
            <a:r>
              <a:rPr lang="en-US" dirty="0">
                <a:solidFill>
                  <a:schemeClr val="accent1">
                    <a:lumMod val="75000"/>
                  </a:schemeClr>
                </a:solidFill>
              </a:rPr>
              <a:t>zero</a:t>
            </a:r>
            <a:r>
              <a:rPr lang="en-US" dirty="0"/>
              <a:t> .</a:t>
            </a:r>
          </a:p>
        </p:txBody>
      </p:sp>
      <p:pic>
        <p:nvPicPr>
          <p:cNvPr id="5" name="Picture 4">
            <a:extLst>
              <a:ext uri="{FF2B5EF4-FFF2-40B4-BE49-F238E27FC236}">
                <a16:creationId xmlns:a16="http://schemas.microsoft.com/office/drawing/2014/main" id="{B4436D14-BEE2-0A3E-65AE-8C02C9827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1534" y="2909821"/>
            <a:ext cx="5674146" cy="2505142"/>
          </a:xfrm>
          <a:prstGeom prst="rect">
            <a:avLst/>
          </a:prstGeom>
        </p:spPr>
      </p:pic>
    </p:spTree>
    <p:extLst>
      <p:ext uri="{BB962C8B-B14F-4D97-AF65-F5344CB8AC3E}">
        <p14:creationId xmlns:p14="http://schemas.microsoft.com/office/powerpoint/2010/main" val="1846685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Grid System</a:t>
            </a:r>
          </a:p>
        </p:txBody>
      </p:sp>
    </p:spTree>
    <p:extLst>
      <p:ext uri="{BB962C8B-B14F-4D97-AF65-F5344CB8AC3E}">
        <p14:creationId xmlns:p14="http://schemas.microsoft.com/office/powerpoint/2010/main" val="2542255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Grid System CSS</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Two dimensional layout model .</a:t>
            </a:r>
          </a:p>
          <a:p>
            <a:r>
              <a:rPr lang="en-US" sz="2000" b="0" i="0" dirty="0">
                <a:solidFill>
                  <a:srgbClr val="454545"/>
                </a:solidFill>
                <a:effectLst/>
                <a:latin typeface="nunito" panose="020B0604020202020204" pitchFamily="2" charset="0"/>
              </a:rPr>
              <a:t>CSS Grid will allow you to manage layout according to both </a:t>
            </a:r>
            <a:r>
              <a:rPr lang="en-US" sz="2000" b="0" i="1" dirty="0">
                <a:solidFill>
                  <a:srgbClr val="454545"/>
                </a:solidFill>
                <a:effectLst/>
                <a:latin typeface="nunito" panose="020B0604020202020204" pitchFamily="2" charset="0"/>
              </a:rPr>
              <a:t>columns</a:t>
            </a:r>
            <a:r>
              <a:rPr lang="en-US" sz="2000" b="0" i="0" dirty="0">
                <a:solidFill>
                  <a:srgbClr val="454545"/>
                </a:solidFill>
                <a:effectLst/>
                <a:latin typeface="nunito" panose="020B0604020202020204" pitchFamily="2" charset="0"/>
              </a:rPr>
              <a:t> and </a:t>
            </a:r>
            <a:r>
              <a:rPr lang="en-US" sz="2000" b="0" i="1" dirty="0">
                <a:solidFill>
                  <a:srgbClr val="454545"/>
                </a:solidFill>
                <a:effectLst/>
                <a:latin typeface="nunito" panose="020B0604020202020204" pitchFamily="2" charset="0"/>
              </a:rPr>
              <a:t>rows</a:t>
            </a:r>
            <a:r>
              <a:rPr lang="en-US" sz="2000" b="0" i="0" dirty="0">
                <a:solidFill>
                  <a:srgbClr val="454545"/>
                </a:solidFill>
                <a:effectLst/>
                <a:latin typeface="nunito" panose="020B0604020202020204" pitchFamily="2" charset="0"/>
              </a:rPr>
              <a:t>.</a:t>
            </a:r>
            <a:endParaRPr lang="en-US" sz="2400" b="0" i="0" dirty="0">
              <a:solidFill>
                <a:srgbClr val="454545"/>
              </a:solidFill>
              <a:effectLst/>
              <a:latin typeface="nunito" panose="020B0604020202020204" pitchFamily="2" charset="0"/>
            </a:endParaRPr>
          </a:p>
          <a:p>
            <a:r>
              <a:rPr lang="en-US" sz="2000" b="1" i="0" u="none" strike="noStrike" dirty="0">
                <a:solidFill>
                  <a:schemeClr val="accent1">
                    <a:lumMod val="75000"/>
                  </a:schemeClr>
                </a:solidFill>
                <a:effectLst/>
                <a:latin typeface="nunito" pitchFamily="2" charset="0"/>
                <a:hlinkClick r:id="rId2">
                  <a:extLst>
                    <a:ext uri="{A12FA001-AC4F-418D-AE19-62706E023703}">
                      <ahyp:hlinkClr xmlns:ahyp="http://schemas.microsoft.com/office/drawing/2018/hyperlinkcolor" val="tx"/>
                    </a:ext>
                  </a:extLst>
                </a:hlinkClick>
              </a:rPr>
              <a:t>Flexbox</a:t>
            </a:r>
            <a:r>
              <a:rPr lang="en-US" sz="2000" b="0" i="0" dirty="0">
                <a:solidFill>
                  <a:srgbClr val="454545"/>
                </a:solidFill>
                <a:effectLst/>
                <a:latin typeface="nunito" pitchFamily="2" charset="0"/>
              </a:rPr>
              <a:t>, by comparison, is really just meant for columns (1-D, if you will). Using CSS Grid, designers will be able to achieve layouts that were downright difficult before. In fact, some of these things were on our wish lists since the days of table-based layouts.</a:t>
            </a:r>
            <a:endParaRPr lang="en-US" sz="2400" dirty="0"/>
          </a:p>
        </p:txBody>
      </p:sp>
    </p:spTree>
    <p:extLst>
      <p:ext uri="{BB962C8B-B14F-4D97-AF65-F5344CB8AC3E}">
        <p14:creationId xmlns:p14="http://schemas.microsoft.com/office/powerpoint/2010/main" val="316943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2-D Layout</a:t>
            </a:r>
          </a:p>
        </p:txBody>
      </p:sp>
      <p:pic>
        <p:nvPicPr>
          <p:cNvPr id="4" name="Content Placeholder 3">
            <a:extLst>
              <a:ext uri="{FF2B5EF4-FFF2-40B4-BE49-F238E27FC236}">
                <a16:creationId xmlns:a16="http://schemas.microsoft.com/office/drawing/2014/main" id="{DF9AE5D4-773E-F008-C8FC-3BA57D6BFE01}"/>
              </a:ext>
            </a:extLst>
          </p:cNvPr>
          <p:cNvPicPr>
            <a:picLocks noGrp="1" noChangeAspect="1"/>
          </p:cNvPicPr>
          <p:nvPr>
            <p:ph idx="1"/>
          </p:nvPr>
        </p:nvPicPr>
        <p:blipFill>
          <a:blip r:embed="rId2"/>
          <a:stretch>
            <a:fillRect/>
          </a:stretch>
        </p:blipFill>
        <p:spPr>
          <a:xfrm>
            <a:off x="1598321" y="2048460"/>
            <a:ext cx="9056318" cy="3942162"/>
          </a:xfrm>
          <a:prstGeom prst="rect">
            <a:avLst/>
          </a:prstGeom>
        </p:spPr>
      </p:pic>
    </p:spTree>
    <p:extLst>
      <p:ext uri="{BB962C8B-B14F-4D97-AF65-F5344CB8AC3E}">
        <p14:creationId xmlns:p14="http://schemas.microsoft.com/office/powerpoint/2010/main" val="3993002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sz="2400" dirty="0"/>
              <a:t>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sz="2400" dirty="0"/>
              <a:t>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403970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Way_one</a:t>
            </a:r>
            <a:endParaRPr lang="en-US" sz="2800" dirty="0"/>
          </a:p>
          <a:p>
            <a:pPr>
              <a:buFont typeface="Wingdings" panose="05000000000000000000" pitchFamily="2" charset="2"/>
              <a:buChar char="§"/>
            </a:pPr>
            <a:r>
              <a:rPr lang="en-US" dirty="0"/>
              <a:t>Grid-template-columns</a:t>
            </a:r>
          </a:p>
          <a:p>
            <a:pPr>
              <a:buFont typeface="Wingdings" panose="05000000000000000000" pitchFamily="2" charset="2"/>
              <a:buChar char="§"/>
            </a:pPr>
            <a:r>
              <a:rPr lang="en-US" dirty="0"/>
              <a:t>Grid-template-rows</a:t>
            </a:r>
          </a:p>
          <a:p>
            <a:pPr>
              <a:buFont typeface="Wingdings" panose="05000000000000000000" pitchFamily="2" charset="2"/>
              <a:buChar char="§"/>
            </a:pPr>
            <a:r>
              <a:rPr lang="en-US" dirty="0"/>
              <a:t>Grid-column </a:t>
            </a:r>
            <a:r>
              <a:rPr lang="en-US" b="1" dirty="0">
                <a:solidFill>
                  <a:schemeClr val="accent1">
                    <a:lumMod val="75000"/>
                  </a:schemeClr>
                </a:solidFill>
              </a:rPr>
              <a:t>:</a:t>
            </a:r>
            <a:r>
              <a:rPr lang="en-US" dirty="0"/>
              <a:t> start/end</a:t>
            </a:r>
          </a:p>
          <a:p>
            <a:pPr>
              <a:buFont typeface="Wingdings" panose="05000000000000000000" pitchFamily="2" charset="2"/>
              <a:buChar char="§"/>
            </a:pPr>
            <a:r>
              <a:rPr lang="en-US" dirty="0"/>
              <a:t>Grid-row</a:t>
            </a:r>
            <a:r>
              <a:rPr lang="en-US" b="1" dirty="0">
                <a:solidFill>
                  <a:schemeClr val="accent1">
                    <a:lumMod val="75000"/>
                  </a:schemeClr>
                </a:solidFill>
              </a:rPr>
              <a:t> : </a:t>
            </a:r>
            <a:r>
              <a:rPr lang="en-US" dirty="0"/>
              <a:t>start/end</a:t>
            </a:r>
          </a:p>
        </p:txBody>
      </p:sp>
    </p:spTree>
    <p:extLst>
      <p:ext uri="{BB962C8B-B14F-4D97-AF65-F5344CB8AC3E}">
        <p14:creationId xmlns:p14="http://schemas.microsoft.com/office/powerpoint/2010/main" val="1620145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Way_two</a:t>
            </a:r>
            <a:endParaRPr lang="en-US" sz="2800" dirty="0"/>
          </a:p>
          <a:p>
            <a:pPr>
              <a:buFont typeface="Wingdings" panose="05000000000000000000" pitchFamily="2" charset="2"/>
              <a:buChar char="§"/>
            </a:pPr>
            <a:r>
              <a:rPr lang="en-US" dirty="0"/>
              <a:t>Grid-template-areas</a:t>
            </a:r>
          </a:p>
          <a:p>
            <a:pPr>
              <a:buFont typeface="Wingdings" panose="05000000000000000000" pitchFamily="2" charset="2"/>
              <a:buChar char="§"/>
            </a:pPr>
            <a:r>
              <a:rPr lang="en-US" dirty="0"/>
              <a:t>Grid-area</a:t>
            </a:r>
          </a:p>
        </p:txBody>
      </p:sp>
    </p:spTree>
    <p:extLst>
      <p:ext uri="{BB962C8B-B14F-4D97-AF65-F5344CB8AC3E}">
        <p14:creationId xmlns:p14="http://schemas.microsoft.com/office/powerpoint/2010/main" val="4120035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Media Queries</a:t>
            </a:r>
          </a:p>
        </p:txBody>
      </p:sp>
    </p:spTree>
    <p:extLst>
      <p:ext uri="{BB962C8B-B14F-4D97-AF65-F5344CB8AC3E}">
        <p14:creationId xmlns:p14="http://schemas.microsoft.com/office/powerpoint/2010/main" val="581809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Media Queries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sz="2400" dirty="0"/>
              <a:t>Tell the browser how to style an element at particular viewport dimensions</a:t>
            </a:r>
          </a:p>
          <a:p>
            <a:pPr>
              <a:buFont typeface="Wingdings" panose="05000000000000000000" pitchFamily="2" charset="2"/>
              <a:buChar char="Ø"/>
            </a:pPr>
            <a:r>
              <a:rPr lang="en-US" sz="2400" dirty="0"/>
              <a:t>Types </a:t>
            </a:r>
            <a:r>
              <a:rPr lang="en-US" sz="2400" b="1" dirty="0">
                <a:solidFill>
                  <a:schemeClr val="accent1">
                    <a:lumMod val="75000"/>
                  </a:schemeClr>
                </a:solidFill>
              </a:rPr>
              <a:t>:</a:t>
            </a:r>
            <a:r>
              <a:rPr lang="en-US" sz="2400" dirty="0"/>
              <a:t> </a:t>
            </a:r>
          </a:p>
          <a:p>
            <a:pPr>
              <a:buFont typeface="Wingdings" panose="05000000000000000000" pitchFamily="2" charset="2"/>
              <a:buChar char="§"/>
            </a:pPr>
            <a:r>
              <a:rPr lang="en-US" sz="2400" dirty="0"/>
              <a:t> all</a:t>
            </a:r>
          </a:p>
          <a:p>
            <a:pPr>
              <a:buFont typeface="Wingdings" panose="05000000000000000000" pitchFamily="2" charset="2"/>
              <a:buChar char="§"/>
            </a:pPr>
            <a:r>
              <a:rPr lang="en-US" sz="2400" dirty="0"/>
              <a:t>Screen</a:t>
            </a:r>
          </a:p>
          <a:p>
            <a:pPr>
              <a:buFont typeface="Wingdings" panose="05000000000000000000" pitchFamily="2" charset="2"/>
              <a:buChar char="§"/>
            </a:pPr>
            <a:r>
              <a:rPr lang="en-US" sz="2400" dirty="0"/>
              <a:t>Print</a:t>
            </a:r>
          </a:p>
          <a:p>
            <a:pPr>
              <a:buFont typeface="Wingdings" panose="05000000000000000000" pitchFamily="2" charset="2"/>
              <a:buChar char="§"/>
            </a:pPr>
            <a:r>
              <a:rPr lang="en-US" sz="2400" dirty="0"/>
              <a:t>Speech</a:t>
            </a:r>
          </a:p>
          <a:p>
            <a:pPr marL="0" indent="0">
              <a:buNone/>
            </a:pPr>
            <a:endParaRPr lang="en-US" sz="2400" dirty="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281364769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1377</TotalTime>
  <Words>790</Words>
  <Application>Microsoft Office PowerPoint</Application>
  <PresentationFormat>Widescreen</PresentationFormat>
  <Paragraphs>166</Paragraphs>
  <Slides>32</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Calibri</vt:lpstr>
      <vt:lpstr>Calibri Light</vt:lpstr>
      <vt:lpstr>Consolas</vt:lpstr>
      <vt:lpstr>DeepSeek-CJK-patch</vt:lpstr>
      <vt:lpstr>Freestyle Script</vt:lpstr>
      <vt:lpstr>Inter</vt:lpstr>
      <vt:lpstr>nunito</vt:lpstr>
      <vt:lpstr>Wingdings</vt:lpstr>
      <vt:lpstr>Retrospect</vt:lpstr>
      <vt:lpstr>Responsive Web Design</vt:lpstr>
      <vt:lpstr>Meaning of RWD</vt:lpstr>
      <vt:lpstr>RWD</vt:lpstr>
      <vt:lpstr>Viewport</vt:lpstr>
      <vt:lpstr>Terminologies</vt:lpstr>
      <vt:lpstr>Web Layout</vt:lpstr>
      <vt:lpstr>RWD Fundamentals </vt:lpstr>
      <vt:lpstr>Flexbox</vt:lpstr>
      <vt:lpstr>Flexbox</vt:lpstr>
      <vt:lpstr>Why Flexbox ?</vt:lpstr>
      <vt:lpstr>Terminology</vt:lpstr>
      <vt:lpstr>Flexbox Axes</vt:lpstr>
      <vt:lpstr>Flex Container Properties</vt:lpstr>
      <vt:lpstr>Display</vt:lpstr>
      <vt:lpstr>Flex-direction</vt:lpstr>
      <vt:lpstr>Flex-wrap</vt:lpstr>
      <vt:lpstr>Flex-flow</vt:lpstr>
      <vt:lpstr>Justify-content</vt:lpstr>
      <vt:lpstr>Align-Items</vt:lpstr>
      <vt:lpstr>Align-Content</vt:lpstr>
      <vt:lpstr>Gap</vt:lpstr>
      <vt:lpstr>Flex Items Properties</vt:lpstr>
      <vt:lpstr>Order </vt:lpstr>
      <vt:lpstr>Flex-Grow</vt:lpstr>
      <vt:lpstr>Grid System</vt:lpstr>
      <vt:lpstr>Grid System CSS</vt:lpstr>
      <vt:lpstr>2-D Layout</vt:lpstr>
      <vt:lpstr>Terminology</vt:lpstr>
      <vt:lpstr>Two Ways to implement Grid in CSS</vt:lpstr>
      <vt:lpstr>Two Ways to implement Grid in CSS</vt:lpstr>
      <vt:lpstr>Media Queries</vt:lpstr>
      <vt:lpstr>Media 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Flexbox</dc:title>
  <dc:creator>Hp</dc:creator>
  <cp:lastModifiedBy>yasser salem</cp:lastModifiedBy>
  <cp:revision>23</cp:revision>
  <dcterms:created xsi:type="dcterms:W3CDTF">2022-04-25T07:27:39Z</dcterms:created>
  <dcterms:modified xsi:type="dcterms:W3CDTF">2025-08-26T07:28:47Z</dcterms:modified>
</cp:coreProperties>
</file>